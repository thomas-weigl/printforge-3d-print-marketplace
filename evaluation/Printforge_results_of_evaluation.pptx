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7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8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9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11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12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0.xml" ContentType="application/vnd.openxmlformats-officedocument.presentationml.notes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5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6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9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20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15.xml" ContentType="application/vnd.openxmlformats-officedocument.presentationml.notesSlide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23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24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27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8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notesSlides/notesSlide19.xml" ContentType="application/vnd.openxmlformats-officedocument.presentationml.notesSlide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31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32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notesSlides/notesSlide20.xml" ContentType="application/vnd.openxmlformats-officedocument.presentationml.notesSlide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3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3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24"/>
  </p:notesMasterIdLst>
  <p:sldIdLst>
    <p:sldId id="256" r:id="rId2"/>
    <p:sldId id="301" r:id="rId3"/>
    <p:sldId id="296" r:id="rId4"/>
    <p:sldId id="260" r:id="rId5"/>
    <p:sldId id="286" r:id="rId6"/>
    <p:sldId id="302" r:id="rId7"/>
    <p:sldId id="299" r:id="rId8"/>
    <p:sldId id="287" r:id="rId9"/>
    <p:sldId id="288" r:id="rId10"/>
    <p:sldId id="289" r:id="rId11"/>
    <p:sldId id="304" r:id="rId12"/>
    <p:sldId id="303" r:id="rId13"/>
    <p:sldId id="297" r:id="rId14"/>
    <p:sldId id="290" r:id="rId15"/>
    <p:sldId id="291" r:id="rId16"/>
    <p:sldId id="305" r:id="rId17"/>
    <p:sldId id="298" r:id="rId18"/>
    <p:sldId id="292" r:id="rId19"/>
    <p:sldId id="294" r:id="rId20"/>
    <p:sldId id="295" r:id="rId21"/>
    <p:sldId id="293" r:id="rId22"/>
    <p:sldId id="285" r:id="rId2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A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35"/>
    <p:restoredTop sz="94637"/>
  </p:normalViewPr>
  <p:slideViewPr>
    <p:cSldViewPr snapToGrid="0">
      <p:cViewPr>
        <p:scale>
          <a:sx n="91" d="100"/>
          <a:sy n="91" d="100"/>
        </p:scale>
        <p:origin x="1280" y="1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thomasweigl/Downloads/Printforge_Evaluation_Saeulendiagramme_Final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thomasweigl/Downloads/Printforge_Evaluation_Saeulendiagramme_Fina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thomasweigl/Downloads/Printforge_Evaluation_Saeulendiagramme_Final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thomasweigl/Downloads/Printforge_Evaluation_Saeulendiagramme_Final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thomasweigl/Downloads/Printforge_Evaluation_Saeulendiagramme_Final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thomasweigl/Downloads/Printforge_Evaluation_Saeulendiagramme_Final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thomasweigl/Downloads/Printforge_Evaluation_Saeulendiagramme_Final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thomasweigl/Downloads/Printforge_Evaluation_Saeulendiagramme_Final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thomasweigl/Downloads/Printforge_Evaluation_Saeulendiagramme_Final.xlsx" TargetMode="Externa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thomasweigl/Downloads/Printforge_Evaluation_Saeulendiagramme_Final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thomasweigl/Downloads/Printforge_Evaluation_Saeulendiagramme_Final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thomasweigl/Downloads/Printforge_Evaluation_Saeulendiagramme_Final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thomasweigl/Downloads/Printforge_Evaluation_Saeulendiagramme_Final.xlsx" TargetMode="Externa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thomasweigl/Downloads/Printforge_Evaluation_Saeulendiagramme_Final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thomasweigl/Downloads/Printforge_Evaluation_Saeulendiagramme_Final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thomasweigl/Downloads/Printforge_Evaluation_Saeulendiagramme_Final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thomasweigl/Downloads/Printforge_Evaluation_Saeulendiagramme_Final.xlsx" TargetMode="Externa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thomasweigl/Downloads/Printforge_Evaluation_Saeulendiagramme_Final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thomasweigl/Downloads/Printforge_Evaluation_Saeulendiagramme_Final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thomasweigl/Downloads/Printforge_Evaluation_Saeulendiagramme_Final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thomasweigl/Downloads/Printforge_Evaluation_Saeulendiagramme_Final.xlsx" TargetMode="Externa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thomasweigl/Downloads/Printforge_Evaluation_Saeulendiagramme_Final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thomasweigl/Downloads/Printforge_Evaluation_Saeulendiagramme_Final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thomasweigl/Downloads/Printforge_Evaluation_Saeulendiagramme_Final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thomasweigl/Downloads/Printforge_Evaluation_Saeulendiagramme_Final.xlsx" TargetMode="Externa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thomasweigl/Downloads/Printforge_Evaluation_Saeulendiagramme_Final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thomasweigl/Downloads/Printforge_Evaluation_Saeulendiagramme_Final.xlsx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thomasweigl/Downloads/Printforge_Evaluation_Saeulendiagramme_Final.xlsx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thomasweigl/Downloads/Printforge_Evaluation_Saeulendiagramme_Final.xlsx" TargetMode="Externa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thomasweigl/Downloads/Printforge_Evaluation_Saeulendiagramme_Final.xlsx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thomasweigl/Downloads/Printforge_Evaluation_Saeulendiagramme_Final.xlsx" TargetMode="External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thomasweigl/Downloads/Printforge_Evaluation_Saeulendiagramme_Final.xlsx" TargetMode="External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thomasweigl/Downloads/Printforge_Evaluation_Saeulendiagramme_Final.xlsx" TargetMode="External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thomasweigl/Downloads/Printforge_Evaluation_Saeulendiagramme_Final.xlsx" TargetMode="External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thomasweigl/Downloads/Printforge_Evaluation_Saeulendiagramme_Final.xlsx" TargetMode="External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thomasweigl/Downloads/Printforge_Evaluation_Saeulendiagramme_Final.xlsx" TargetMode="External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How easy was it to complete this flow?</a:t>
            </a:r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  <a:prstDash val="solid"/>
            </a:ln>
          </c:spPr>
          <c:invertIfNegative val="0"/>
          <c:val>
            <c:numRef>
              <c:f>'Diagramm-Daten'!$I$2:$M$2</c:f>
              <c:numCache>
                <c:formatCode>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3</c:v>
                </c:pt>
                <c:pt idx="3">
                  <c:v>8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B2-2349-99CC-282544B9A6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90451263"/>
        <c:axId val="1332906623"/>
      </c:barChart>
      <c:catAx>
        <c:axId val="13904512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32906623"/>
        <c:crosses val="autoZero"/>
        <c:auto val="1"/>
        <c:lblAlgn val="ctr"/>
        <c:lblOffset val="100"/>
        <c:noMultiLvlLbl val="0"/>
      </c:catAx>
      <c:valAx>
        <c:axId val="13329066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90451263"/>
        <c:crosses val="autoZero"/>
        <c:crossBetween val="between"/>
      </c:valAx>
    </c:plotArea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If you were looking for “Blueprints” again later, how confident are you that you could find it quickly?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  <a:effectLst/>
          </c:spPr>
          <c:invertIfNegative val="0"/>
          <c:val>
            <c:numRef>
              <c:f>'Diagramm-Daten'!$I$6:$M$6</c:f>
              <c:numCache>
                <c:formatCode>0</c:formatCode>
                <c:ptCount val="5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89-934D-A2AB-D53BC33F4F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04672703"/>
        <c:axId val="1304670015"/>
      </c:barChart>
      <c:catAx>
        <c:axId val="1304672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04670015"/>
        <c:crosses val="autoZero"/>
        <c:auto val="1"/>
        <c:lblAlgn val="ctr"/>
        <c:lblOffset val="100"/>
        <c:noMultiLvlLbl val="0"/>
      </c:catAx>
      <c:valAx>
        <c:axId val="13046700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04672703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How easy was it to complete this flow?</a:t>
            </a:r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  <a:prstDash val="solid"/>
            </a:ln>
          </c:spPr>
          <c:invertIfNegative val="0"/>
          <c:val>
            <c:numRef>
              <c:f>'Diagramm-Daten'!$I$2:$M$2</c:f>
              <c:numCache>
                <c:formatCode>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3</c:v>
                </c:pt>
                <c:pt idx="3">
                  <c:v>8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B2-2349-99CC-282544B9A6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90451263"/>
        <c:axId val="1332906623"/>
      </c:barChart>
      <c:catAx>
        <c:axId val="13904512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32906623"/>
        <c:crosses val="autoZero"/>
        <c:auto val="1"/>
        <c:lblAlgn val="ctr"/>
        <c:lblOffset val="100"/>
        <c:noMultiLvlLbl val="0"/>
      </c:catAx>
      <c:valAx>
        <c:axId val="13329066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90451263"/>
        <c:crosses val="autoZero"/>
        <c:crossBetween val="between"/>
      </c:valAx>
    </c:plotArea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were</a:t>
            </a:r>
            <a:r>
              <a:rPr lang="de-DE" dirty="0"/>
              <a:t> </a:t>
            </a:r>
            <a:r>
              <a:rPr lang="de-DE" dirty="0" err="1"/>
              <a:t>looking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“</a:t>
            </a:r>
            <a:r>
              <a:rPr lang="de-DE" dirty="0" err="1"/>
              <a:t>Blueprints</a:t>
            </a:r>
            <a:r>
              <a:rPr lang="de-DE" dirty="0"/>
              <a:t>” </a:t>
            </a:r>
            <a:r>
              <a:rPr lang="de-DE" dirty="0" err="1"/>
              <a:t>again</a:t>
            </a:r>
            <a:r>
              <a:rPr lang="de-DE" dirty="0"/>
              <a:t>,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confident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could</a:t>
            </a:r>
            <a:r>
              <a:rPr lang="de-DE" dirty="0"/>
              <a:t> find </a:t>
            </a:r>
            <a:r>
              <a:rPr lang="de-DE" dirty="0" err="1"/>
              <a:t>it</a:t>
            </a:r>
            <a:endParaRPr lang="de-DE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  <a:effectLst/>
          </c:spPr>
          <c:invertIfNegative val="0"/>
          <c:val>
            <c:numRef>
              <c:f>'Diagramm-Daten'!$I$6:$M$6</c:f>
              <c:numCache>
                <c:formatCode>0</c:formatCode>
                <c:ptCount val="5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CC-B742-9721-30F62508FC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04672703"/>
        <c:axId val="1304670015"/>
      </c:barChart>
      <c:catAx>
        <c:axId val="1304672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04670015"/>
        <c:crosses val="autoZero"/>
        <c:auto val="1"/>
        <c:lblAlgn val="ctr"/>
        <c:lblOffset val="100"/>
        <c:noMultiLvlLbl val="0"/>
      </c:catAx>
      <c:valAx>
        <c:axId val="13046700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04672703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How easy was it to complete this flow?</a:t>
            </a:r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  <a:prstDash val="solid"/>
            </a:ln>
          </c:spPr>
          <c:invertIfNegative val="0"/>
          <c:val>
            <c:numRef>
              <c:f>'Diagramm-Daten'!$I$2:$M$2</c:f>
              <c:numCache>
                <c:formatCode>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3</c:v>
                </c:pt>
                <c:pt idx="3">
                  <c:v>8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B2-2349-99CC-282544B9A6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90451263"/>
        <c:axId val="1332906623"/>
      </c:barChart>
      <c:catAx>
        <c:axId val="13904512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32906623"/>
        <c:crosses val="autoZero"/>
        <c:auto val="1"/>
        <c:lblAlgn val="ctr"/>
        <c:lblOffset val="100"/>
        <c:noMultiLvlLbl val="0"/>
      </c:catAx>
      <c:valAx>
        <c:axId val="13329066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90451263"/>
        <c:crosses val="autoZero"/>
        <c:crossBetween val="between"/>
      </c:valAx>
    </c:plotArea>
    <c:plotVisOnly val="1"/>
    <c:dispBlanksAs val="gap"/>
    <c:showDLblsOverMax val="1"/>
  </c:chart>
  <c:spPr>
    <a:solidFill>
      <a:schemeClr val="bg1">
        <a:alpha val="33000"/>
      </a:schemeClr>
    </a:solidFill>
    <a:ln w="9525" cap="flat" cmpd="sng" algn="ctr">
      <a:solidFill>
        <a:schemeClr val="tx1">
          <a:lumMod val="15000"/>
          <a:lumOff val="85000"/>
          <a:alpha val="0"/>
        </a:schemeClr>
      </a:solidFill>
      <a:prstDash val="solid"/>
      <a:round/>
    </a:ln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If you were looking for “Blueprints” again later, how confident are you that you could find it quickly?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  <a:effectLst/>
          </c:spPr>
          <c:invertIfNegative val="0"/>
          <c:val>
            <c:numRef>
              <c:f>'Diagramm-Daten'!$I$6:$M$6</c:f>
              <c:numCache>
                <c:formatCode>0</c:formatCode>
                <c:ptCount val="5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89-934D-A2AB-D53BC33F4F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04672703"/>
        <c:axId val="1304670015"/>
      </c:barChart>
      <c:catAx>
        <c:axId val="1304672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04670015"/>
        <c:crosses val="autoZero"/>
        <c:auto val="1"/>
        <c:lblAlgn val="ctr"/>
        <c:lblOffset val="100"/>
        <c:noMultiLvlLbl val="0"/>
      </c:catAx>
      <c:valAx>
        <c:axId val="13046700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04672703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gap"/>
    <c:showDLblsOverMax val="0"/>
  </c:chart>
  <c:spPr>
    <a:solidFill>
      <a:schemeClr val="bg1">
        <a:alpha val="67638"/>
      </a:schemeClr>
    </a:solidFill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How straightforward was it to add the two items, adjust quantities, and remove items?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  <a:effectLst/>
          </c:spPr>
          <c:invertIfNegative val="0"/>
          <c:val>
            <c:numRef>
              <c:f>'Diagramm-Daten'!$I$8:$M$8</c:f>
              <c:numCache>
                <c:formatCode>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3</c:v>
                </c:pt>
                <c:pt idx="3">
                  <c:v>8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97-D34B-8925-E1CCB15937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04661503"/>
        <c:axId val="1304738239"/>
      </c:barChart>
      <c:catAx>
        <c:axId val="13046615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04738239"/>
        <c:crosses val="autoZero"/>
        <c:auto val="1"/>
        <c:lblAlgn val="ctr"/>
        <c:lblOffset val="100"/>
        <c:noMultiLvlLbl val="0"/>
      </c:catAx>
      <c:valAx>
        <c:axId val="13047382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046615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How easy and intuitive was it to increment or decrement item quantities?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  <a:effectLst/>
          </c:spPr>
          <c:invertIfNegative val="0"/>
          <c:val>
            <c:numRef>
              <c:f>'Diagramm-Daten'!$I$14:$M$14</c:f>
              <c:numCache>
                <c:formatCode>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2</c:v>
                </c:pt>
                <c:pt idx="4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1C-8F4D-A014-528B2DCC2A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13632447"/>
        <c:axId val="1513623487"/>
      </c:barChart>
      <c:catAx>
        <c:axId val="15136324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513623487"/>
        <c:crosses val="autoZero"/>
        <c:auto val="1"/>
        <c:lblAlgn val="ctr"/>
        <c:lblOffset val="100"/>
        <c:noMultiLvlLbl val="0"/>
      </c:catAx>
      <c:valAx>
        <c:axId val="15136234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5136324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How easy was it to complete this flow?</a:t>
            </a:r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  <a:prstDash val="solid"/>
            </a:ln>
          </c:spPr>
          <c:invertIfNegative val="0"/>
          <c:val>
            <c:numRef>
              <c:f>'Diagramm-Daten'!$I$2:$M$2</c:f>
              <c:numCache>
                <c:formatCode>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3</c:v>
                </c:pt>
                <c:pt idx="3">
                  <c:v>8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B2-2349-99CC-282544B9A6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90451263"/>
        <c:axId val="1332906623"/>
      </c:barChart>
      <c:catAx>
        <c:axId val="13904512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32906623"/>
        <c:crosses val="autoZero"/>
        <c:auto val="1"/>
        <c:lblAlgn val="ctr"/>
        <c:lblOffset val="100"/>
        <c:noMultiLvlLbl val="0"/>
      </c:catAx>
      <c:valAx>
        <c:axId val="13329066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90451263"/>
        <c:crosses val="autoZero"/>
        <c:crossBetween val="between"/>
      </c:valAx>
    </c:plotArea>
    <c:plotVisOnly val="1"/>
    <c:dispBlanksAs val="gap"/>
    <c:showDLblsOverMax val="1"/>
  </c:chart>
  <c:spPr>
    <a:solidFill>
      <a:schemeClr val="bg1">
        <a:alpha val="33000"/>
      </a:schemeClr>
    </a:solidFill>
    <a:ln w="9525" cap="flat" cmpd="sng" algn="ctr">
      <a:solidFill>
        <a:schemeClr val="tx1">
          <a:lumMod val="15000"/>
          <a:lumOff val="85000"/>
          <a:alpha val="0"/>
        </a:schemeClr>
      </a:solidFill>
      <a:prstDash val="solid"/>
      <a:round/>
    </a:ln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If you were looking for “Blueprints” again later, how confident are you that you could find it quickly?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  <a:effectLst/>
          </c:spPr>
          <c:invertIfNegative val="0"/>
          <c:val>
            <c:numRef>
              <c:f>'Diagramm-Daten'!$I$6:$M$6</c:f>
              <c:numCache>
                <c:formatCode>0</c:formatCode>
                <c:ptCount val="5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89-934D-A2AB-D53BC33F4F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04672703"/>
        <c:axId val="1304670015"/>
      </c:barChart>
      <c:catAx>
        <c:axId val="1304672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04670015"/>
        <c:crosses val="autoZero"/>
        <c:auto val="1"/>
        <c:lblAlgn val="ctr"/>
        <c:lblOffset val="100"/>
        <c:noMultiLvlLbl val="0"/>
      </c:catAx>
      <c:valAx>
        <c:axId val="13046700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04672703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gap"/>
    <c:showDLblsOverMax val="0"/>
  </c:chart>
  <c:spPr>
    <a:solidFill>
      <a:schemeClr val="bg1">
        <a:alpha val="67638"/>
      </a:schemeClr>
    </a:solidFill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 How easy was it to locate and access your shopping cart from different pages?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  <a:effectLst/>
          </c:spPr>
          <c:invertIfNegative val="0"/>
          <c:val>
            <c:numRef>
              <c:f>'Diagramm-Daten'!$I$12:$M$12</c:f>
              <c:numCache>
                <c:formatCode>0</c:formatCode>
                <c:ptCount val="5"/>
                <c:pt idx="0">
                  <c:v>0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89-8B4C-A40B-130326476A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00135359"/>
        <c:axId val="900128639"/>
      </c:barChart>
      <c:catAx>
        <c:axId val="9001353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900128639"/>
        <c:crosses val="autoZero"/>
        <c:auto val="1"/>
        <c:lblAlgn val="ctr"/>
        <c:lblOffset val="100"/>
        <c:noMultiLvlLbl val="0"/>
      </c:catAx>
      <c:valAx>
        <c:axId val="9001286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9001353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 If you removed the wrong item, did it feel easy to undo or recover?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  <a:effectLst/>
          </c:spPr>
          <c:invertIfNegative val="0"/>
          <c:val>
            <c:numRef>
              <c:f>'Diagramm-Daten'!$I$15:$M$15</c:f>
              <c:numCache>
                <c:formatCode>0</c:formatCode>
                <c:ptCount val="5"/>
                <c:pt idx="0">
                  <c:v>1</c:v>
                </c:pt>
                <c:pt idx="1">
                  <c:v>3</c:v>
                </c:pt>
                <c:pt idx="2">
                  <c:v>3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9D-5B4F-898E-8DE98AAE6E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80395519"/>
        <c:axId val="1513634239"/>
      </c:barChart>
      <c:catAx>
        <c:axId val="10803955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513634239"/>
        <c:crosses val="autoZero"/>
        <c:auto val="1"/>
        <c:lblAlgn val="ctr"/>
        <c:lblOffset val="100"/>
        <c:noMultiLvlLbl val="0"/>
      </c:catAx>
      <c:valAx>
        <c:axId val="15136342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803955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How easy was it to complete this flow?</a:t>
            </a:r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  <a:prstDash val="solid"/>
            </a:ln>
          </c:spPr>
          <c:invertIfNegative val="0"/>
          <c:val>
            <c:numRef>
              <c:f>'Diagramm-Daten'!$I$2:$M$2</c:f>
              <c:numCache>
                <c:formatCode>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3</c:v>
                </c:pt>
                <c:pt idx="3">
                  <c:v>8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B2-2349-99CC-282544B9A6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90451263"/>
        <c:axId val="1332906623"/>
      </c:barChart>
      <c:catAx>
        <c:axId val="13904512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32906623"/>
        <c:crosses val="autoZero"/>
        <c:auto val="1"/>
        <c:lblAlgn val="ctr"/>
        <c:lblOffset val="100"/>
        <c:noMultiLvlLbl val="0"/>
      </c:catAx>
      <c:valAx>
        <c:axId val="13329066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90451263"/>
        <c:crosses val="autoZero"/>
        <c:crossBetween val="between"/>
      </c:valAx>
    </c:plotArea>
    <c:plotVisOnly val="1"/>
    <c:dispBlanksAs val="gap"/>
    <c:showDLblsOverMax val="1"/>
  </c:chart>
  <c:spPr>
    <a:solidFill>
      <a:schemeClr val="bg1">
        <a:alpha val="58641"/>
      </a:schemeClr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were</a:t>
            </a:r>
            <a:r>
              <a:rPr lang="de-DE" dirty="0"/>
              <a:t> </a:t>
            </a:r>
            <a:r>
              <a:rPr lang="de-DE" dirty="0" err="1"/>
              <a:t>looking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“</a:t>
            </a:r>
            <a:r>
              <a:rPr lang="de-DE" dirty="0" err="1"/>
              <a:t>Blueprints</a:t>
            </a:r>
            <a:r>
              <a:rPr lang="de-DE" dirty="0"/>
              <a:t>” </a:t>
            </a:r>
            <a:r>
              <a:rPr lang="de-DE" dirty="0" err="1"/>
              <a:t>again</a:t>
            </a:r>
            <a:r>
              <a:rPr lang="de-DE" dirty="0"/>
              <a:t>,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confident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could</a:t>
            </a:r>
            <a:r>
              <a:rPr lang="de-DE" dirty="0"/>
              <a:t> find </a:t>
            </a:r>
            <a:r>
              <a:rPr lang="de-DE" dirty="0" err="1"/>
              <a:t>it</a:t>
            </a:r>
            <a:endParaRPr lang="de-DE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  <a:effectLst/>
          </c:spPr>
          <c:invertIfNegative val="0"/>
          <c:val>
            <c:numRef>
              <c:f>'Diagramm-Daten'!$I$6:$M$6</c:f>
              <c:numCache>
                <c:formatCode>0</c:formatCode>
                <c:ptCount val="5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CC-B742-9721-30F62508FC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04672703"/>
        <c:axId val="1304670015"/>
      </c:barChart>
      <c:catAx>
        <c:axId val="1304672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04670015"/>
        <c:crosses val="autoZero"/>
        <c:auto val="1"/>
        <c:lblAlgn val="ctr"/>
        <c:lblOffset val="100"/>
        <c:noMultiLvlLbl val="0"/>
      </c:catAx>
      <c:valAx>
        <c:axId val="13046700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04672703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gap"/>
    <c:showDLblsOverMax val="0"/>
  </c:chart>
  <c:spPr>
    <a:solidFill>
      <a:schemeClr val="bg1">
        <a:alpha val="62000"/>
      </a:schemeClr>
    </a:solidFill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 If you removed the wrong item, did it feel easy to undo or recover?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  <a:effectLst/>
          </c:spPr>
          <c:invertIfNegative val="0"/>
          <c:val>
            <c:numRef>
              <c:f>'Diagramm-Daten'!$I$15:$M$15</c:f>
              <c:numCache>
                <c:formatCode>0</c:formatCode>
                <c:ptCount val="5"/>
                <c:pt idx="0">
                  <c:v>1</c:v>
                </c:pt>
                <c:pt idx="1">
                  <c:v>3</c:v>
                </c:pt>
                <c:pt idx="2">
                  <c:v>3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DD-F140-9696-7643F571FD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80395519"/>
        <c:axId val="1513634239"/>
      </c:barChart>
      <c:catAx>
        <c:axId val="10803955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513634239"/>
        <c:crosses val="autoZero"/>
        <c:auto val="1"/>
        <c:lblAlgn val="ctr"/>
        <c:lblOffset val="100"/>
        <c:noMultiLvlLbl val="0"/>
      </c:catAx>
      <c:valAx>
        <c:axId val="15136342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803955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 How easy was it to locate and access your shopping cart from different pages?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  <a:effectLst/>
          </c:spPr>
          <c:invertIfNegative val="0"/>
          <c:val>
            <c:numRef>
              <c:f>'Diagramm-Daten'!$I$12:$M$12</c:f>
              <c:numCache>
                <c:formatCode>0</c:formatCode>
                <c:ptCount val="5"/>
                <c:pt idx="0">
                  <c:v>0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47-8D4F-993F-61AB91FD64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00135359"/>
        <c:axId val="900128639"/>
      </c:barChart>
      <c:catAx>
        <c:axId val="9001353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900128639"/>
        <c:crosses val="autoZero"/>
        <c:auto val="1"/>
        <c:lblAlgn val="ctr"/>
        <c:lblOffset val="100"/>
        <c:noMultiLvlLbl val="0"/>
      </c:catAx>
      <c:valAx>
        <c:axId val="9001286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9001353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How easy was it to complete this flow?</a:t>
            </a:r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  <a:prstDash val="solid"/>
            </a:ln>
          </c:spPr>
          <c:invertIfNegative val="0"/>
          <c:val>
            <c:numRef>
              <c:f>'Diagramm-Daten'!$I$2:$M$2</c:f>
              <c:numCache>
                <c:formatCode>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3</c:v>
                </c:pt>
                <c:pt idx="3">
                  <c:v>8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B2-2349-99CC-282544B9A6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90451263"/>
        <c:axId val="1332906623"/>
      </c:barChart>
      <c:catAx>
        <c:axId val="13904512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32906623"/>
        <c:crosses val="autoZero"/>
        <c:auto val="1"/>
        <c:lblAlgn val="ctr"/>
        <c:lblOffset val="100"/>
        <c:noMultiLvlLbl val="0"/>
      </c:catAx>
      <c:valAx>
        <c:axId val="13329066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90451263"/>
        <c:crosses val="autoZero"/>
        <c:crossBetween val="between"/>
      </c:valAx>
    </c:plotArea>
    <c:plotVisOnly val="1"/>
    <c:dispBlanksAs val="gap"/>
    <c:showDLblsOverMax val="1"/>
  </c:chart>
  <c:spPr>
    <a:solidFill>
      <a:schemeClr val="bg1">
        <a:alpha val="33000"/>
      </a:schemeClr>
    </a:solidFill>
    <a:ln w="9525" cap="flat" cmpd="sng" algn="ctr">
      <a:solidFill>
        <a:schemeClr val="tx1">
          <a:lumMod val="15000"/>
          <a:lumOff val="85000"/>
          <a:alpha val="0"/>
        </a:schemeClr>
      </a:solidFill>
      <a:prstDash val="solid"/>
      <a:round/>
    </a:ln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If you were looking for “Blueprints” again later, how confident are you that you could find it quickly?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  <a:effectLst/>
          </c:spPr>
          <c:invertIfNegative val="0"/>
          <c:val>
            <c:numRef>
              <c:f>'Diagramm-Daten'!$I$6:$M$6</c:f>
              <c:numCache>
                <c:formatCode>0</c:formatCode>
                <c:ptCount val="5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89-934D-A2AB-D53BC33F4F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04672703"/>
        <c:axId val="1304670015"/>
      </c:barChart>
      <c:catAx>
        <c:axId val="1304672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04670015"/>
        <c:crosses val="autoZero"/>
        <c:auto val="1"/>
        <c:lblAlgn val="ctr"/>
        <c:lblOffset val="100"/>
        <c:noMultiLvlLbl val="0"/>
      </c:catAx>
      <c:valAx>
        <c:axId val="13046700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04672703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gap"/>
    <c:showDLblsOverMax val="0"/>
  </c:chart>
  <c:spPr>
    <a:solidFill>
      <a:schemeClr val="bg1">
        <a:alpha val="67638"/>
      </a:schemeClr>
    </a:solidFill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How easy was it to locate the Sign-In screen and complete the login process?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  <a:effectLst/>
          </c:spPr>
          <c:invertIfNegative val="0"/>
          <c:val>
            <c:numRef>
              <c:f>'Diagramm-Daten'!$I$18:$M$18</c:f>
              <c:numCache>
                <c:formatCode>0</c:formatCode>
                <c:ptCount val="5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  <c:pt idx="4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B2-FD44-BAF8-4A81241EAF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00441727"/>
        <c:axId val="900443519"/>
      </c:barChart>
      <c:catAx>
        <c:axId val="9004417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900443519"/>
        <c:crosses val="autoZero"/>
        <c:auto val="1"/>
        <c:lblAlgn val="ctr"/>
        <c:lblOffset val="100"/>
        <c:noMultiLvlLbl val="0"/>
      </c:catAx>
      <c:valAx>
        <c:axId val="9004435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9004417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How intuitive did you find the process of reviewing and confirming your user information?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  <a:effectLst/>
          </c:spPr>
          <c:invertIfNegative val="0"/>
          <c:val>
            <c:numRef>
              <c:f>'Diagramm-Daten'!$I$26:$M$26</c:f>
              <c:numCache>
                <c:formatCode>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5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5F-6C45-8552-3F3CFF9B00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93702527"/>
        <c:axId val="893710143"/>
      </c:barChart>
      <c:catAx>
        <c:axId val="893702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893710143"/>
        <c:crosses val="autoZero"/>
        <c:auto val="1"/>
        <c:lblAlgn val="ctr"/>
        <c:lblOffset val="100"/>
        <c:noMultiLvlLbl val="0"/>
      </c:catAx>
      <c:valAx>
        <c:axId val="8937101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8937025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How easy was it to complete this flow?</a:t>
            </a:r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  <a:prstDash val="solid"/>
            </a:ln>
          </c:spPr>
          <c:invertIfNegative val="0"/>
          <c:val>
            <c:numRef>
              <c:f>'Diagramm-Daten'!$I$2:$M$2</c:f>
              <c:numCache>
                <c:formatCode>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3</c:v>
                </c:pt>
                <c:pt idx="3">
                  <c:v>8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B2-2349-99CC-282544B9A6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90451263"/>
        <c:axId val="1332906623"/>
      </c:barChart>
      <c:catAx>
        <c:axId val="13904512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32906623"/>
        <c:crosses val="autoZero"/>
        <c:auto val="1"/>
        <c:lblAlgn val="ctr"/>
        <c:lblOffset val="100"/>
        <c:noMultiLvlLbl val="0"/>
      </c:catAx>
      <c:valAx>
        <c:axId val="13329066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90451263"/>
        <c:crosses val="autoZero"/>
        <c:crossBetween val="between"/>
      </c:valAx>
    </c:plotArea>
    <c:plotVisOnly val="1"/>
    <c:dispBlanksAs val="gap"/>
    <c:showDLblsOverMax val="1"/>
  </c:chart>
  <c:spPr>
    <a:solidFill>
      <a:schemeClr val="bg1">
        <a:alpha val="58641"/>
      </a:schemeClr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were</a:t>
            </a:r>
            <a:r>
              <a:rPr lang="de-DE" dirty="0"/>
              <a:t> </a:t>
            </a:r>
            <a:r>
              <a:rPr lang="de-DE" dirty="0" err="1"/>
              <a:t>looking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“</a:t>
            </a:r>
            <a:r>
              <a:rPr lang="de-DE" dirty="0" err="1"/>
              <a:t>Blueprints</a:t>
            </a:r>
            <a:r>
              <a:rPr lang="de-DE" dirty="0"/>
              <a:t>” </a:t>
            </a:r>
            <a:r>
              <a:rPr lang="de-DE" dirty="0" err="1"/>
              <a:t>again</a:t>
            </a:r>
            <a:r>
              <a:rPr lang="de-DE" dirty="0"/>
              <a:t>,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confident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could</a:t>
            </a:r>
            <a:r>
              <a:rPr lang="de-DE" dirty="0"/>
              <a:t> find </a:t>
            </a:r>
            <a:r>
              <a:rPr lang="de-DE" dirty="0" err="1"/>
              <a:t>it</a:t>
            </a:r>
            <a:endParaRPr lang="de-DE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  <a:effectLst/>
          </c:spPr>
          <c:invertIfNegative val="0"/>
          <c:val>
            <c:numRef>
              <c:f>'Diagramm-Daten'!$I$6:$M$6</c:f>
              <c:numCache>
                <c:formatCode>0</c:formatCode>
                <c:ptCount val="5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CC-B742-9721-30F62508FC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04672703"/>
        <c:axId val="1304670015"/>
      </c:barChart>
      <c:catAx>
        <c:axId val="1304672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04670015"/>
        <c:crosses val="autoZero"/>
        <c:auto val="1"/>
        <c:lblAlgn val="ctr"/>
        <c:lblOffset val="100"/>
        <c:noMultiLvlLbl val="0"/>
      </c:catAx>
      <c:valAx>
        <c:axId val="13046700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04672703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gap"/>
    <c:showDLblsOverMax val="0"/>
  </c:chart>
  <c:spPr>
    <a:solidFill>
      <a:schemeClr val="bg1">
        <a:alpha val="62000"/>
      </a:schemeClr>
    </a:solidFill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How easy was it to locate the Sign-In screen and complete the login process?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  <a:effectLst/>
          </c:spPr>
          <c:invertIfNegative val="0"/>
          <c:val>
            <c:numRef>
              <c:f>'Diagramm-Daten'!$I$18:$M$18</c:f>
              <c:numCache>
                <c:formatCode>0</c:formatCode>
                <c:ptCount val="5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  <c:pt idx="4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5A-4C46-830E-DFA39263AB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00441727"/>
        <c:axId val="900443519"/>
      </c:barChart>
      <c:catAx>
        <c:axId val="9004417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900443519"/>
        <c:crosses val="autoZero"/>
        <c:auto val="1"/>
        <c:lblAlgn val="ctr"/>
        <c:lblOffset val="100"/>
        <c:noMultiLvlLbl val="0"/>
      </c:catAx>
      <c:valAx>
        <c:axId val="9004435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9004417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How intuitive did you find the process of reviewing and confirming your user information?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  <a:effectLst/>
          </c:spPr>
          <c:invertIfNegative val="0"/>
          <c:val>
            <c:numRef>
              <c:f>'Diagramm-Daten'!$I$26:$M$26</c:f>
              <c:numCache>
                <c:formatCode>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5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F6-9646-AA31-7C5400769C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93702527"/>
        <c:axId val="893710143"/>
      </c:barChart>
      <c:catAx>
        <c:axId val="893702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893710143"/>
        <c:crosses val="autoZero"/>
        <c:auto val="1"/>
        <c:lblAlgn val="ctr"/>
        <c:lblOffset val="100"/>
        <c:noMultiLvlLbl val="0"/>
      </c:catAx>
      <c:valAx>
        <c:axId val="8937101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8937025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How easy was it to complete this flow?</a:t>
            </a:r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  <a:prstDash val="solid"/>
            </a:ln>
          </c:spPr>
          <c:invertIfNegative val="0"/>
          <c:val>
            <c:numRef>
              <c:f>'Diagramm-Daten'!$I$2:$M$2</c:f>
              <c:numCache>
                <c:formatCode>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3</c:v>
                </c:pt>
                <c:pt idx="3">
                  <c:v>8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B2-2349-99CC-282544B9A6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90451263"/>
        <c:axId val="1332906623"/>
      </c:barChart>
      <c:catAx>
        <c:axId val="13904512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32906623"/>
        <c:crosses val="autoZero"/>
        <c:auto val="1"/>
        <c:lblAlgn val="ctr"/>
        <c:lblOffset val="100"/>
        <c:noMultiLvlLbl val="0"/>
      </c:catAx>
      <c:valAx>
        <c:axId val="13329066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90451263"/>
        <c:crosses val="autoZero"/>
        <c:crossBetween val="between"/>
      </c:valAx>
    </c:plotArea>
    <c:plotVisOnly val="1"/>
    <c:dispBlanksAs val="gap"/>
    <c:showDLblsOverMax val="1"/>
  </c:chart>
  <c:spPr>
    <a:solidFill>
      <a:schemeClr val="bg1">
        <a:alpha val="33000"/>
      </a:schemeClr>
    </a:solidFill>
    <a:ln w="9525" cap="flat" cmpd="sng" algn="ctr">
      <a:solidFill>
        <a:schemeClr val="tx1">
          <a:lumMod val="15000"/>
          <a:lumOff val="85000"/>
          <a:alpha val="0"/>
        </a:schemeClr>
      </a:solidFill>
      <a:prstDash val="solid"/>
      <a:round/>
    </a:ln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If you were looking for “Blueprints” again later, how confident are you that you could find it quickly?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  <a:effectLst/>
          </c:spPr>
          <c:invertIfNegative val="0"/>
          <c:val>
            <c:numRef>
              <c:f>'Diagramm-Daten'!$I$6:$M$6</c:f>
              <c:numCache>
                <c:formatCode>0</c:formatCode>
                <c:ptCount val="5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89-934D-A2AB-D53BC33F4F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04672703"/>
        <c:axId val="1304670015"/>
      </c:barChart>
      <c:catAx>
        <c:axId val="1304672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04670015"/>
        <c:crosses val="autoZero"/>
        <c:auto val="1"/>
        <c:lblAlgn val="ctr"/>
        <c:lblOffset val="100"/>
        <c:noMultiLvlLbl val="0"/>
      </c:catAx>
      <c:valAx>
        <c:axId val="13046700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04672703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gap"/>
    <c:showDLblsOverMax val="0"/>
  </c:chart>
  <c:spPr>
    <a:solidFill>
      <a:schemeClr val="bg1">
        <a:alpha val="67638"/>
      </a:schemeClr>
    </a:solidFill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How would you rate font size and readability?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  <a:effectLst/>
          </c:spPr>
          <c:invertIfNegative val="0"/>
          <c:val>
            <c:numRef>
              <c:f>'Diagramm-Daten'!$I$28:$M$28</c:f>
              <c:numCache>
                <c:formatCode>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5</c:v>
                </c:pt>
                <c:pt idx="4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2A-2E49-869C-7E872C7AC2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13616063"/>
        <c:axId val="1513616511"/>
      </c:barChart>
      <c:catAx>
        <c:axId val="15136160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513616511"/>
        <c:crosses val="autoZero"/>
        <c:auto val="1"/>
        <c:lblAlgn val="ctr"/>
        <c:lblOffset val="100"/>
        <c:noMultiLvlLbl val="0"/>
      </c:catAx>
      <c:valAx>
        <c:axId val="15136165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5136160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How would you rate the color scheme and contrast?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  <a:effectLst/>
          </c:spPr>
          <c:invertIfNegative val="0"/>
          <c:val>
            <c:numRef>
              <c:f>'Diagramm-Daten'!$I$29:$M$29</c:f>
              <c:numCache>
                <c:formatCode>0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5</c:v>
                </c:pt>
                <c:pt idx="4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CB-C949-B87D-88A2D3D62A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01603199"/>
        <c:axId val="901607679"/>
      </c:barChart>
      <c:catAx>
        <c:axId val="9016031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901607679"/>
        <c:crosses val="autoZero"/>
        <c:auto val="1"/>
        <c:lblAlgn val="ctr"/>
        <c:lblOffset val="100"/>
        <c:noMultiLvlLbl val="0"/>
      </c:catAx>
      <c:valAx>
        <c:axId val="9016076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901603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>
      <a:solidFill>
        <a:schemeClr val="tx1">
          <a:lumMod val="15000"/>
          <a:lumOff val="85000"/>
        </a:schemeClr>
      </a:solidFill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How easy was it to complete this flow?</a:t>
            </a:r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  <a:prstDash val="solid"/>
            </a:ln>
          </c:spPr>
          <c:invertIfNegative val="0"/>
          <c:val>
            <c:numRef>
              <c:f>'Diagramm-Daten'!$I$2:$M$2</c:f>
              <c:numCache>
                <c:formatCode>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3</c:v>
                </c:pt>
                <c:pt idx="3">
                  <c:v>8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B2-2349-99CC-282544B9A6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90451263"/>
        <c:axId val="1332906623"/>
      </c:barChart>
      <c:catAx>
        <c:axId val="13904512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32906623"/>
        <c:crosses val="autoZero"/>
        <c:auto val="1"/>
        <c:lblAlgn val="ctr"/>
        <c:lblOffset val="100"/>
        <c:noMultiLvlLbl val="0"/>
      </c:catAx>
      <c:valAx>
        <c:axId val="13329066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90451263"/>
        <c:crosses val="autoZero"/>
        <c:crossBetween val="between"/>
      </c:valAx>
    </c:plotArea>
    <c:plotVisOnly val="1"/>
    <c:dispBlanksAs val="gap"/>
    <c:showDLblsOverMax val="1"/>
  </c:chart>
  <c:spPr>
    <a:solidFill>
      <a:schemeClr val="bg1">
        <a:alpha val="33000"/>
      </a:schemeClr>
    </a:solidFill>
    <a:ln w="9525" cap="flat" cmpd="sng" algn="ctr">
      <a:solidFill>
        <a:schemeClr val="tx1">
          <a:lumMod val="15000"/>
          <a:lumOff val="85000"/>
          <a:alpha val="0"/>
        </a:schemeClr>
      </a:solidFill>
      <a:prstDash val="solid"/>
      <a:round/>
    </a:ln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If you were looking for “Blueprints” again later, how confident are you that you could find it quickly?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  <a:effectLst/>
          </c:spPr>
          <c:invertIfNegative val="0"/>
          <c:val>
            <c:numRef>
              <c:f>'Diagramm-Daten'!$I$6:$M$6</c:f>
              <c:numCache>
                <c:formatCode>0</c:formatCode>
                <c:ptCount val="5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89-934D-A2AB-D53BC33F4F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04672703"/>
        <c:axId val="1304670015"/>
      </c:barChart>
      <c:catAx>
        <c:axId val="1304672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04670015"/>
        <c:crosses val="autoZero"/>
        <c:auto val="1"/>
        <c:lblAlgn val="ctr"/>
        <c:lblOffset val="100"/>
        <c:noMultiLvlLbl val="0"/>
      </c:catAx>
      <c:valAx>
        <c:axId val="13046700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04672703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gap"/>
    <c:showDLblsOverMax val="0"/>
  </c:chart>
  <c:spPr>
    <a:solidFill>
      <a:schemeClr val="bg1">
        <a:alpha val="67638"/>
      </a:schemeClr>
    </a:solidFill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How consistent did the UI feel across pages (buttons, spacing, headings, patterns)?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  <a:effectLst/>
          </c:spPr>
          <c:invertIfNegative val="0"/>
          <c:val>
            <c:numRef>
              <c:f>'Diagramm-Daten'!$I$30:$M$30</c:f>
              <c:numCache>
                <c:formatCode>0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  <c:pt idx="4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A5-3F45-8FFF-10166EB76C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14119039"/>
        <c:axId val="1514111871"/>
      </c:barChart>
      <c:catAx>
        <c:axId val="15141190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514111871"/>
        <c:crosses val="autoZero"/>
        <c:auto val="1"/>
        <c:lblAlgn val="ctr"/>
        <c:lblOffset val="100"/>
        <c:noMultiLvlLbl val="0"/>
      </c:catAx>
      <c:valAx>
        <c:axId val="15141118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5141190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Did the site feel fast and responsive?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  <a:effectLst/>
          </c:spPr>
          <c:invertIfNegative val="0"/>
          <c:val>
            <c:numRef>
              <c:f>'Diagramm-Daten'!$I$31:$M$31</c:f>
              <c:numCache>
                <c:formatCode>0</c:formatCode>
                <c:ptCount val="5"/>
                <c:pt idx="0">
                  <c:v>0</c:v>
                </c:pt>
                <c:pt idx="1">
                  <c:v>1</c:v>
                </c:pt>
                <c:pt idx="2">
                  <c:v>4</c:v>
                </c:pt>
                <c:pt idx="3">
                  <c:v>5</c:v>
                </c:pt>
                <c:pt idx="4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9B-1046-9DD6-79CEC36F1F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95308159"/>
        <c:axId val="895316671"/>
      </c:barChart>
      <c:catAx>
        <c:axId val="8953081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895316671"/>
        <c:crosses val="autoZero"/>
        <c:auto val="1"/>
        <c:lblAlgn val="ctr"/>
        <c:lblOffset val="100"/>
        <c:noMultiLvlLbl val="0"/>
      </c:catAx>
      <c:valAx>
        <c:axId val="8953166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8953081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How easy was it to complete this flow?</a:t>
            </a:r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  <a:prstDash val="solid"/>
            </a:ln>
          </c:spPr>
          <c:invertIfNegative val="0"/>
          <c:val>
            <c:numRef>
              <c:f>'Diagramm-Daten'!$I$2:$M$2</c:f>
              <c:numCache>
                <c:formatCode>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3</c:v>
                </c:pt>
                <c:pt idx="3">
                  <c:v>8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B2-2349-99CC-282544B9A6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90451263"/>
        <c:axId val="1332906623"/>
      </c:barChart>
      <c:catAx>
        <c:axId val="13904512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32906623"/>
        <c:crosses val="autoZero"/>
        <c:auto val="1"/>
        <c:lblAlgn val="ctr"/>
        <c:lblOffset val="100"/>
        <c:noMultiLvlLbl val="0"/>
      </c:catAx>
      <c:valAx>
        <c:axId val="13329066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90451263"/>
        <c:crosses val="autoZero"/>
        <c:crossBetween val="between"/>
      </c:valAx>
    </c:plotArea>
    <c:plotVisOnly val="1"/>
    <c:dispBlanksAs val="gap"/>
    <c:showDLblsOverMax val="1"/>
  </c:chart>
  <c:spPr>
    <a:solidFill>
      <a:schemeClr val="bg1">
        <a:alpha val="33000"/>
      </a:schemeClr>
    </a:solidFill>
    <a:ln w="9525" cap="flat" cmpd="sng" algn="ctr">
      <a:solidFill>
        <a:schemeClr val="tx1">
          <a:lumMod val="15000"/>
          <a:lumOff val="85000"/>
          <a:alpha val="0"/>
        </a:schemeClr>
      </a:solidFill>
      <a:prstDash val="solid"/>
      <a:round/>
    </a:ln>
  </c:sp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If you were looking for “Blueprints” again later, how confident are you that you could find it quickly?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  <a:effectLst/>
          </c:spPr>
          <c:invertIfNegative val="0"/>
          <c:val>
            <c:numRef>
              <c:f>'Diagramm-Daten'!$I$6:$M$6</c:f>
              <c:numCache>
                <c:formatCode>0</c:formatCode>
                <c:ptCount val="5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89-934D-A2AB-D53BC33F4F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04672703"/>
        <c:axId val="1304670015"/>
      </c:barChart>
      <c:catAx>
        <c:axId val="1304672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04670015"/>
        <c:crosses val="autoZero"/>
        <c:auto val="1"/>
        <c:lblAlgn val="ctr"/>
        <c:lblOffset val="100"/>
        <c:noMultiLvlLbl val="0"/>
      </c:catAx>
      <c:valAx>
        <c:axId val="13046700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04672703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gap"/>
    <c:showDLblsOverMax val="0"/>
  </c:chart>
  <c:spPr>
    <a:solidFill>
      <a:schemeClr val="bg1">
        <a:alpha val="67638"/>
      </a:schemeClr>
    </a:solidFill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 dirty="0"/>
              <a:t>How </a:t>
            </a:r>
            <a:r>
              <a:rPr lang="de-DE" dirty="0" err="1"/>
              <a:t>accessible</a:t>
            </a:r>
            <a:r>
              <a:rPr lang="de-DE" dirty="0"/>
              <a:t> </a:t>
            </a:r>
            <a:r>
              <a:rPr lang="de-DE" dirty="0" err="1"/>
              <a:t>did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interface </a:t>
            </a:r>
            <a:r>
              <a:rPr lang="de-DE" dirty="0" err="1"/>
              <a:t>feel</a:t>
            </a:r>
            <a:r>
              <a:rPr lang="de-DE" dirty="0"/>
              <a:t>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  <a:effectLst/>
          </c:spPr>
          <c:invertIfNegative val="0"/>
          <c:val>
            <c:numRef>
              <c:f>'Diagramm-Daten'!$I$32:$M$32</c:f>
              <c:numCache>
                <c:formatCode>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4</c:v>
                </c:pt>
                <c:pt idx="3">
                  <c:v>6</c:v>
                </c:pt>
                <c:pt idx="4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79-6148-90CF-FD4DCB544F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98528255"/>
        <c:axId val="895848831"/>
      </c:barChart>
      <c:catAx>
        <c:axId val="12985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895848831"/>
        <c:crosses val="autoZero"/>
        <c:auto val="1"/>
        <c:lblAlgn val="ctr"/>
        <c:lblOffset val="100"/>
        <c:noMultiLvlLbl val="0"/>
      </c:catAx>
      <c:valAx>
        <c:axId val="8958488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985282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How would you rate the website overall?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  <a:effectLst/>
          </c:spPr>
          <c:invertIfNegative val="0"/>
          <c:val>
            <c:numRef>
              <c:f>'Diagramm-Daten'!$I$33:$M$33</c:f>
              <c:numCache>
                <c:formatCode>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8</c:v>
                </c:pt>
                <c:pt idx="4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64-8F4D-B73D-D86DF67494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62465023"/>
        <c:axId val="662468159"/>
      </c:barChart>
      <c:catAx>
        <c:axId val="6624650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662468159"/>
        <c:crosses val="autoZero"/>
        <c:auto val="1"/>
        <c:lblAlgn val="ctr"/>
        <c:lblOffset val="100"/>
        <c:noMultiLvlLbl val="0"/>
      </c:catAx>
      <c:valAx>
        <c:axId val="6624681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6624650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4B9C1A-6DEC-7040-A2CD-0BFFEFD636EC}" type="datetimeFigureOut">
              <a:rPr lang="de-DE" smtClean="0"/>
              <a:t>20.06.26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A0579C-6C65-EB42-805A-DE57889045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7762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04651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41EE6-241A-2E55-8D7E-CC7AFF286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3941406-4664-D7E6-A692-494F775819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FB2B0DE-3BEF-1BA8-3FA2-C894E68969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BA9B8D0-E3F9-6251-4781-E0F2FECE89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87270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E7AB9-6E7E-DD5D-D0CA-27559BF8E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3FAB0F0-7CD4-F2DB-9518-DD0912F1E6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8FDBE68-E85C-3C0D-CCC5-A33BE9D23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972F54E-8393-275A-4978-0A36467FF4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8130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0CB87-8BD6-1104-D32F-4DF571ABD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49C54CF-6520-38CA-9D60-527C71B68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5E884A7-C5FA-8DC8-2F68-C89469C58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EA23136-5A04-5AD1-6DCF-1E5E51EAE7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6978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81AE4-95F7-3A85-5089-43FB7546F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EC671B8-7903-208D-F463-71F61A30F2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6310150-85AD-850E-22B2-626D748F7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B6C9F1-84FA-1FF3-7D3C-23AAC1D93A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08207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A0FA4-4851-6794-9445-A092B23C4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6831D66-B8F4-A2FD-42D5-3E214BE826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06EEA44-A493-9023-8056-78B2000013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23D9EBB-7200-52D0-4AC3-C59873E0F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29698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67A11-95D6-CD9D-7683-56752EEC0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B83CC1E-1691-61B5-80FC-DED2747FA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1E16246-BCD6-3C96-A3F0-2C8098E492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305170-C922-D949-5296-D4BA77F969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77134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0A06D-988A-008E-B078-C7E67A2A6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3501EA5-5B0E-9CCB-8D10-05D7F53A41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1E15A1F-DA08-D2E2-F125-4CE4370003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1620D84-A01D-903B-4C64-18A6CD6B83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66568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55C8F-2C1A-80BD-190B-E7E5CB802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35B6D18-67E0-42E8-7AAA-3EFFBAE0C3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20EC9ED-BF59-718C-ABD3-6502B224D0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34B6EC1-DBD3-F321-6B76-FAEAEC4638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50918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7FA25-A295-4675-2EA4-06E9CFC31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7042C67-0503-3907-C8F9-B77EB15567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E79F9E1-B8EB-323D-C754-8CA867653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CF5D20A-CFD0-AE42-E1ED-F963584DA3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45421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BD913-D4E7-6E7D-C163-C9C996566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7D9C0D9-4FC2-E4F6-D892-D94F9F69C4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B1CC26D-C6C4-5137-765A-22E20DC914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5FC48BA-B594-14E5-E128-639B026569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6526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3F65F-1208-B5A5-65A5-291331535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10ADC91-1A76-3601-34C2-382426949D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269B31A-A804-E15D-AA0B-6D36FF4D5E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46B6E9D-6C33-00D4-33DE-BB8AEF23B3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85098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4A9C2-80BB-AFAD-FC5F-2C094CF8F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1FD030F-5B8E-9B17-D188-9108A70B6D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077F8AF-8288-E443-576E-B5AB50152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654532-D2E1-1421-AF2D-31B876DB45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89904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03E90-0119-A749-6CEB-071C85112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90A63B0-DA48-1C1E-F04B-E9F28B7C2A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EB21361-BBEA-5351-D070-3ABC13EA7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7AB8FE8-8A2A-F6A6-3F78-2DE70BFB1E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11812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5F44C-21F8-1A8E-60D0-12EC08076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FE8A022-1214-6E5D-5442-4A5936E7C2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477A0CF-5FDF-CA24-F974-DCC18B6A5C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86042AE-4C36-5DF5-2D2E-6C980BE9FA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1696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5CAFC-3907-027E-D32C-1CFF2730F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DC46197-9355-6B0A-2177-03F3722EE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2A787E6-E348-6434-17AE-5888A6B0F5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2C97BC1-6195-690F-84B8-7B79805F65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05145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85471-004E-2314-7056-D49A326FF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A32B401-B5BB-C079-4E38-BB94086217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B70DF8C-D018-CC62-1A90-5BCD3F1619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053CC60-AF9D-D912-A17D-DEB8E9A8CC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23197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3360D-8AC1-2A66-EFED-607B6B894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5EC9837-C787-79E6-3FBA-237BADED31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F53025A-E64F-40BB-060D-F8B5EBBA2C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B20BDDC-21F2-8DF1-B423-5654BA1FEB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15392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DE142-760F-8C50-ECCD-C6F28D083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3FA86F3-95AB-C18A-E5A2-6D0D0DF80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3D4981E-6974-69EF-6076-706A59D9EF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2166622-B4B7-AF31-428A-0A9B071A2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94640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4C78A-9F1E-DFDC-4F23-4E6371A63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5B33467-5238-A616-D9AB-C1FBEF2BE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B806F0C-C7F5-A62E-9C2D-83E63868A8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27E5259-D7BE-84F3-C2A6-E5D6EBAB86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82114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10127-5EB3-DC39-E1CF-222D9D0BA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7A0EF5B-70E5-3DCA-82E3-466B72FBFA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E9051BE-9E71-083D-2C95-1A8C401C0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48930E4-CD20-961F-83C0-F73CE3A521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02855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973B2-6756-8192-6EA3-2E866846D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165EFBF-806B-D888-9221-DA34A51D0F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D62F35F-D4F1-ACE8-A4F2-C6BD803F0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DCE6B22-249D-95ED-212E-A26F5C5262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7534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4CCF20-806D-5C16-30EB-2F9B29DB5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0C6059F-F706-060F-6121-AD470C5BD7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088A8F7-184D-7E0B-698A-559BA3144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4035-68A4-2741-8686-A9C99360A150}" type="datetimeFigureOut">
              <a:rPr lang="de-DE" smtClean="0"/>
              <a:t>20.06.26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5C6EB3-C195-304C-2C81-C1AF86C4E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CFA8C7-FBB9-5197-CC75-0324F8BD8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15F3A-E224-C44D-998B-D90BEA9C07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5467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82ADD7-7887-58CC-1992-2715C024A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1C51A4-A7DE-0624-DB39-477518D09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2258543-C3C4-2ED4-3391-47C8FF071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4035-68A4-2741-8686-A9C99360A150}" type="datetimeFigureOut">
              <a:rPr lang="de-DE" smtClean="0"/>
              <a:t>20.06.26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3C7B0B-94A8-455D-5CF8-E9B54EEFB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E9B302-FA31-7FCB-69BE-A787FF91E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15F3A-E224-C44D-998B-D90BEA9C07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7345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DC4695-F977-42E5-30BC-8F07C47CE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E3A1319-C4DA-70B9-F2B3-32077BD3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307EBF-40B7-2C2B-3266-F796154C2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4035-68A4-2741-8686-A9C99360A150}" type="datetimeFigureOut">
              <a:rPr lang="de-DE" smtClean="0"/>
              <a:t>20.06.26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9B27083-892C-4FC0-593C-421CF4BDC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0CB1BAE-E80E-1E28-433E-6FE8FDCBC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15F3A-E224-C44D-998B-D90BEA9C07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3312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7E2E01-621B-5E29-A975-5C68739B6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5718A5-3B44-1071-E059-9A87747CC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F938A22-8008-3695-1BD7-E6FE9F3A7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32C020A-D913-D5C2-0974-6F95AF633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4035-68A4-2741-8686-A9C99360A150}" type="datetimeFigureOut">
              <a:rPr lang="de-DE" smtClean="0"/>
              <a:t>20.06.26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73C3DDE-C1A7-139B-F511-87F51D214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FBC5434-980D-7A6D-D03C-40DCFEB8B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15F3A-E224-C44D-998B-D90BEA9C07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8034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75DFA8-3E9B-D081-1060-686F44A22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1F8E161-9E1A-C516-53EF-34792035AE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E5C943B-00BD-14F5-BA4C-4B191FA62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C87E237-B29F-2383-507C-C18F388146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A9FCD1A-7828-BFB8-DE5F-D0655A11A0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B371AEF-3C82-7E4B-96C5-4FCC0FD11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4035-68A4-2741-8686-A9C99360A150}" type="datetimeFigureOut">
              <a:rPr lang="de-DE" smtClean="0"/>
              <a:t>20.06.26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EA3483E-684B-5BCF-CE98-2C1A19E29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0122D73-6C50-A0DA-ACB0-116ADD0E5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15F3A-E224-C44D-998B-D90BEA9C07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597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52E312-59C9-C1DC-02EE-BFB9473C2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6462141-52ED-699E-883A-208AD343B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4035-68A4-2741-8686-A9C99360A150}" type="datetimeFigureOut">
              <a:rPr lang="de-DE" smtClean="0"/>
              <a:t>20.06.26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9FF0FC-379E-88F2-87E3-C7AB136E9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F03A716-A3F7-7B6E-D741-FE6639AE9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15F3A-E224-C44D-998B-D90BEA9C07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7887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EF230E6-2AE7-0F29-B5C6-E729D370B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4035-68A4-2741-8686-A9C99360A150}" type="datetimeFigureOut">
              <a:rPr lang="de-DE" smtClean="0"/>
              <a:t>20.06.26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398B3FC-BC3F-CFB6-341C-ED8B58A49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64095F-1B5D-6D26-512E-11F7270D7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15F3A-E224-C44D-998B-D90BEA9C07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4789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30BF29-D609-E674-73D3-851A46A3F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F583A87-9C14-DA89-68C4-5BF3476EF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D2F6B8F-B66B-0137-47E7-6BA485039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9862905-79F4-9CC9-6790-BB28670ED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4035-68A4-2741-8686-A9C99360A150}" type="datetimeFigureOut">
              <a:rPr lang="de-DE" smtClean="0"/>
              <a:t>20.06.26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B756EDE-41A4-A8D1-CAFA-E74AF0C05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B6EF20E-94AF-DFF0-DB4C-B4635CBE7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15F3A-E224-C44D-998B-D90BEA9C07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9415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DF3A29-29A4-B490-3256-5AAB97D41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EFF4E54-D6A8-CAEF-D516-149EEC9112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07135DD-1B6E-0BB4-CEEB-543C708CF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1C738D0-2378-C34A-F775-A9C19BD2F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4035-68A4-2741-8686-A9C99360A150}" type="datetimeFigureOut">
              <a:rPr lang="de-DE" smtClean="0"/>
              <a:t>20.06.26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6669439-F9DE-18D2-D655-DFBEF6636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3117F60-DFB4-B44D-834B-2558DCDC9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15F3A-E224-C44D-998B-D90BEA9C07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3716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0ECD7D-3BB9-33FF-E057-BC1F8F2F0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B8AA109-FE43-DC69-AFFA-C78555F3C4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FF9A564-9FD9-E235-9100-D4245F8E8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4035-68A4-2741-8686-A9C99360A150}" type="datetimeFigureOut">
              <a:rPr lang="de-DE" smtClean="0"/>
              <a:t>20.06.26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E40CF8-1498-CFD8-F319-5E4907ACE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BB3B61-7944-D6BB-7AC2-874C6CE65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15F3A-E224-C44D-998B-D90BEA9C07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6045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6A7A136-1E67-1D0B-85A1-DD787B62C8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271FB05-8BAB-6115-8C4B-F282E20E3A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151E803-586A-1EB4-FCED-E87953A41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4035-68A4-2741-8686-A9C99360A150}" type="datetimeFigureOut">
              <a:rPr lang="de-DE" smtClean="0"/>
              <a:t>20.06.26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394F23-C086-A17A-CC5C-FB3D06810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E8B623-EAD0-6285-B8F6-90813168D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15F3A-E224-C44D-998B-D90BEA9C07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0197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AF79DB3-8ED6-9B2E-2C1A-02D408A49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693B1BE-EEAA-C057-CF50-AEBB2C05C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EAAC61B-3F5C-80BE-295A-59F7101D4D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9E4035-68A4-2741-8686-A9C99360A150}" type="datetimeFigureOut">
              <a:rPr lang="de-DE" smtClean="0"/>
              <a:t>20.06.26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B0C2A5-3B36-13BF-25D8-C8A0BBB7AA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AB07E5-0C5A-BB3C-E515-BB23ABA59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415F3A-E224-C44D-998B-D90BEA9C07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1607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7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chart" Target="../charts/chart1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1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chart" Target="../charts/chart1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5.xml"/><Relationship Id="rId5" Type="http://schemas.openxmlformats.org/officeDocument/2006/relationships/chart" Target="../charts/chart14.xml"/><Relationship Id="rId4" Type="http://schemas.openxmlformats.org/officeDocument/2006/relationships/chart" Target="../charts/chart13.xml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chart" Target="../charts/chart20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9.xml"/><Relationship Id="rId5" Type="http://schemas.openxmlformats.org/officeDocument/2006/relationships/chart" Target="../charts/chart18.xml"/><Relationship Id="rId4" Type="http://schemas.openxmlformats.org/officeDocument/2006/relationships/chart" Target="../charts/chart1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chart" Target="../charts/chart2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23.xml"/><Relationship Id="rId5" Type="http://schemas.openxmlformats.org/officeDocument/2006/relationships/chart" Target="../charts/chart22.xml"/><Relationship Id="rId4" Type="http://schemas.openxmlformats.org/officeDocument/2006/relationships/chart" Target="../charts/chart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chart" Target="../charts/chart28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27.xml"/><Relationship Id="rId5" Type="http://schemas.openxmlformats.org/officeDocument/2006/relationships/chart" Target="../charts/chart26.xml"/><Relationship Id="rId4" Type="http://schemas.openxmlformats.org/officeDocument/2006/relationships/chart" Target="../charts/chart2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chart" Target="../charts/chart3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1.xml"/><Relationship Id="rId5" Type="http://schemas.openxmlformats.org/officeDocument/2006/relationships/chart" Target="../charts/chart30.xml"/><Relationship Id="rId4" Type="http://schemas.openxmlformats.org/officeDocument/2006/relationships/chart" Target="../charts/chart29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chart" Target="../charts/chart36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5.xml"/><Relationship Id="rId5" Type="http://schemas.openxmlformats.org/officeDocument/2006/relationships/chart" Target="../charts/chart34.xml"/><Relationship Id="rId4" Type="http://schemas.openxmlformats.org/officeDocument/2006/relationships/chart" Target="../charts/chart3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746630-64FA-8AEE-FB6F-892F0E465A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189019" y="2463281"/>
            <a:ext cx="9144000" cy="1091535"/>
          </a:xfrm>
        </p:spPr>
        <p:txBody>
          <a:bodyPr>
            <a:normAutofit/>
          </a:bodyPr>
          <a:lstStyle/>
          <a:p>
            <a:r>
              <a:rPr lang="de-DE" sz="66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Printforge</a:t>
            </a:r>
            <a:endParaRPr lang="de-DE" sz="66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5C58AC6-AE6C-7AB1-5E69-CB2A3E6C0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8904" y="3554816"/>
            <a:ext cx="5108154" cy="1655762"/>
          </a:xfrm>
        </p:spPr>
        <p:txBody>
          <a:bodyPr>
            <a:normAutofit/>
          </a:bodyPr>
          <a:lstStyle/>
          <a:p>
            <a:r>
              <a:rPr lang="de-DE" sz="2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Shape </a:t>
            </a:r>
            <a:r>
              <a:rPr lang="de-DE" sz="28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de-DE" sz="2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Future </a:t>
            </a:r>
            <a:r>
              <a:rPr lang="de-DE" sz="28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</a:t>
            </a:r>
            <a:r>
              <a:rPr lang="de-DE" sz="2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Making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BDE72B4-DCE6-90A3-357E-F30119763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1649" y="-400449"/>
            <a:ext cx="3921632" cy="2614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809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15CDD8-23F5-B428-B2BE-77EE21D27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winkliges Dreieck 3">
            <a:extLst>
              <a:ext uri="{FF2B5EF4-FFF2-40B4-BE49-F238E27FC236}">
                <a16:creationId xmlns:a16="http://schemas.microsoft.com/office/drawing/2014/main" id="{2E57F6AD-A7DB-77C0-19E7-041A4AA7A862}"/>
              </a:ext>
            </a:extLst>
          </p:cNvPr>
          <p:cNvSpPr/>
          <p:nvPr/>
        </p:nvSpPr>
        <p:spPr>
          <a:xfrm flipH="1">
            <a:off x="12209526" y="-50256"/>
            <a:ext cx="6362700" cy="6931116"/>
          </a:xfrm>
          <a:prstGeom prst="rtTriangl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54000">
                <a:schemeClr val="bg1"/>
              </a:gs>
              <a:gs pos="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FC717399-B3DE-FD83-1B09-24FDEC055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2002" y="-381136"/>
            <a:ext cx="3238637" cy="2159091"/>
          </a:xfrm>
          <a:prstGeom prst="rect">
            <a:avLst/>
          </a:prstGeom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4770D9D8-3AEF-2D1C-E338-FCAD3F6CC4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29377AB-7EC6-3487-CED6-386E1F64C0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6426" y="698409"/>
            <a:ext cx="8959148" cy="579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8006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2E93AD-7414-7A34-F047-155EF14BB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5C96FB5-7DD8-A724-2C4D-36AC9FEE88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314874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0" name="Rechtwinkliges Dreieck 9">
            <a:extLst>
              <a:ext uri="{FF2B5EF4-FFF2-40B4-BE49-F238E27FC236}">
                <a16:creationId xmlns:a16="http://schemas.microsoft.com/office/drawing/2014/main" id="{DEC76B1C-4089-D623-0886-FABD424A8808}"/>
              </a:ext>
            </a:extLst>
          </p:cNvPr>
          <p:cNvSpPr/>
          <p:nvPr/>
        </p:nvSpPr>
        <p:spPr>
          <a:xfrm flipH="1">
            <a:off x="12208623" y="-50256"/>
            <a:ext cx="6362700" cy="6931116"/>
          </a:xfrm>
          <a:prstGeom prst="rtTriangl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54000">
                <a:schemeClr val="bg1"/>
              </a:gs>
              <a:gs pos="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A94D3AB-8A44-D6C8-1EB7-8674E8AA1725}"/>
              </a:ext>
            </a:extLst>
          </p:cNvPr>
          <p:cNvSpPr/>
          <p:nvPr/>
        </p:nvSpPr>
        <p:spPr>
          <a:xfrm>
            <a:off x="2032635" y="2914650"/>
            <a:ext cx="1078230" cy="107442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50800" dir="1740000" algn="ctr" rotWithShape="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DEA4D1B-5CAE-5BAE-4119-B47655BED7AC}"/>
              </a:ext>
            </a:extLst>
          </p:cNvPr>
          <p:cNvSpPr/>
          <p:nvPr/>
        </p:nvSpPr>
        <p:spPr>
          <a:xfrm>
            <a:off x="4263390" y="2914650"/>
            <a:ext cx="1078230" cy="10744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B230DE4-1041-CA21-32E2-49EC5C160E9E}"/>
              </a:ext>
            </a:extLst>
          </p:cNvPr>
          <p:cNvSpPr/>
          <p:nvPr/>
        </p:nvSpPr>
        <p:spPr>
          <a:xfrm>
            <a:off x="6473190" y="2914650"/>
            <a:ext cx="1078230" cy="10744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684E0B6-5755-8AF7-17E6-6479EB334A01}"/>
              </a:ext>
            </a:extLst>
          </p:cNvPr>
          <p:cNvSpPr/>
          <p:nvPr/>
        </p:nvSpPr>
        <p:spPr>
          <a:xfrm>
            <a:off x="8705850" y="2914650"/>
            <a:ext cx="1078230" cy="10744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A1276EA-AD5A-8DAD-F180-A61F5AF7FE62}"/>
              </a:ext>
            </a:extLst>
          </p:cNvPr>
          <p:cNvSpPr txBox="1"/>
          <p:nvPr/>
        </p:nvSpPr>
        <p:spPr>
          <a:xfrm>
            <a:off x="1496589" y="4103369"/>
            <a:ext cx="21126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Task 1:</a:t>
            </a:r>
          </a:p>
          <a:p>
            <a:pPr algn="ctr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Navigation Discovery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BD667173-CEEF-DD75-82D6-C69CCDA82025}"/>
              </a:ext>
            </a:extLst>
          </p:cNvPr>
          <p:cNvSpPr txBox="1"/>
          <p:nvPr/>
        </p:nvSpPr>
        <p:spPr>
          <a:xfrm>
            <a:off x="3951054" y="4113087"/>
            <a:ext cx="1725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Task 2:</a:t>
            </a:r>
          </a:p>
          <a:p>
            <a:pPr algn="ctr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Shopping Flow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F7286B63-E0A0-1D1B-6254-D090E024AEEC}"/>
              </a:ext>
            </a:extLst>
          </p:cNvPr>
          <p:cNvSpPr txBox="1"/>
          <p:nvPr/>
        </p:nvSpPr>
        <p:spPr>
          <a:xfrm>
            <a:off x="6182937" y="4103370"/>
            <a:ext cx="17602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Task 3:</a:t>
            </a:r>
          </a:p>
          <a:p>
            <a:pPr algn="ctr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Profile Management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5E063EE-E58A-5550-A0C3-C7EDF557D548}"/>
              </a:ext>
            </a:extLst>
          </p:cNvPr>
          <p:cNvSpPr txBox="1"/>
          <p:nvPr/>
        </p:nvSpPr>
        <p:spPr>
          <a:xfrm>
            <a:off x="8460105" y="4103369"/>
            <a:ext cx="1592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Overall </a:t>
            </a:r>
          </a:p>
          <a:p>
            <a:pPr algn="ctr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UI / UX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ABA6B596-FE28-7A65-BCAC-CE84E127B7A9}"/>
              </a:ext>
            </a:extLst>
          </p:cNvPr>
          <p:cNvSpPr/>
          <p:nvPr/>
        </p:nvSpPr>
        <p:spPr>
          <a:xfrm>
            <a:off x="3086100" y="3388995"/>
            <a:ext cx="1188720" cy="142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6140053-A056-8C07-62F3-FAD96BAA9452}"/>
              </a:ext>
            </a:extLst>
          </p:cNvPr>
          <p:cNvSpPr/>
          <p:nvPr/>
        </p:nvSpPr>
        <p:spPr>
          <a:xfrm>
            <a:off x="5307330" y="3380422"/>
            <a:ext cx="1188720" cy="142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9630B23-A68E-4196-D767-4BA11BED8CC8}"/>
              </a:ext>
            </a:extLst>
          </p:cNvPr>
          <p:cNvSpPr/>
          <p:nvPr/>
        </p:nvSpPr>
        <p:spPr>
          <a:xfrm>
            <a:off x="7528560" y="3380422"/>
            <a:ext cx="1188720" cy="142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8" name="3D-Modell 17" descr="Hellgraue Kugel">
                <a:extLst>
                  <a:ext uri="{FF2B5EF4-FFF2-40B4-BE49-F238E27FC236}">
                    <a16:creationId xmlns:a16="http://schemas.microsoft.com/office/drawing/2014/main" id="{160B54C9-3650-E253-3669-DFB6AE7CFEC2}"/>
                  </a:ext>
                </a:extLst>
              </p:cNvPr>
              <p:cNvGraphicFramePr/>
              <p:nvPr/>
            </p:nvGraphicFramePr>
            <p:xfrm>
              <a:off x="8643545" y="2783952"/>
              <a:ext cx="1173479" cy="1290096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173479" cy="1290096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20715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8" name="3D-Modell 17" descr="Hellgraue Kugel">
                <a:extLst>
                  <a:ext uri="{FF2B5EF4-FFF2-40B4-BE49-F238E27FC236}">
                    <a16:creationId xmlns:a16="http://schemas.microsoft.com/office/drawing/2014/main" id="{160B54C9-3650-E253-3669-DFB6AE7CFEC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43545" y="2783952"/>
                <a:ext cx="1173479" cy="12900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9" name="3D-Modell 18" descr="Hellgraue Kugel">
                <a:extLst>
                  <a:ext uri="{FF2B5EF4-FFF2-40B4-BE49-F238E27FC236}">
                    <a16:creationId xmlns:a16="http://schemas.microsoft.com/office/drawing/2014/main" id="{B1DAA352-66BF-01A4-296A-BDBB14AAC0B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395128" y="2882699"/>
              <a:ext cx="1212614" cy="1212615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212614" cy="1212615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 ax="-449957" ay="4942122" az="-446017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207154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9" name="3D-Modell 18" descr="Hellgraue Kugel">
                <a:extLst>
                  <a:ext uri="{FF2B5EF4-FFF2-40B4-BE49-F238E27FC236}">
                    <a16:creationId xmlns:a16="http://schemas.microsoft.com/office/drawing/2014/main" id="{B1DAA352-66BF-01A4-296A-BDBB14AAC0B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95128" y="2882699"/>
                <a:ext cx="1212614" cy="1212615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Oval 19">
            <a:extLst>
              <a:ext uri="{FF2B5EF4-FFF2-40B4-BE49-F238E27FC236}">
                <a16:creationId xmlns:a16="http://schemas.microsoft.com/office/drawing/2014/main" id="{9D9CCECB-A957-A06A-E701-07CDBC25C98C}"/>
              </a:ext>
            </a:extLst>
          </p:cNvPr>
          <p:cNvSpPr/>
          <p:nvPr/>
        </p:nvSpPr>
        <p:spPr>
          <a:xfrm>
            <a:off x="1891284" y="2799205"/>
            <a:ext cx="1307592" cy="129610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2" name="3D-Modell 21" descr="Hellgraue Kugel">
                <a:extLst>
                  <a:ext uri="{FF2B5EF4-FFF2-40B4-BE49-F238E27FC236}">
                    <a16:creationId xmlns:a16="http://schemas.microsoft.com/office/drawing/2014/main" id="{736CA0D2-E2C7-EBB5-FF0C-9700615959B5}"/>
                  </a:ext>
                </a:extLst>
              </p:cNvPr>
              <p:cNvGraphicFramePr/>
              <p:nvPr/>
            </p:nvGraphicFramePr>
            <p:xfrm>
              <a:off x="4202431" y="2798239"/>
              <a:ext cx="1173479" cy="1290096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173479" cy="1290096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20715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2" name="3D-Modell 21" descr="Hellgraue Kugel">
                <a:extLst>
                  <a:ext uri="{FF2B5EF4-FFF2-40B4-BE49-F238E27FC236}">
                    <a16:creationId xmlns:a16="http://schemas.microsoft.com/office/drawing/2014/main" id="{736CA0D2-E2C7-EBB5-FF0C-9700615959B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02431" y="2798239"/>
                <a:ext cx="1173479" cy="12900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3" name="3D-Modell 22" descr="Hellgraue Kugel">
                <a:extLst>
                  <a:ext uri="{FF2B5EF4-FFF2-40B4-BE49-F238E27FC236}">
                    <a16:creationId xmlns:a16="http://schemas.microsoft.com/office/drawing/2014/main" id="{6793CF7C-FFCF-45D4-0297-50C79A371A21}"/>
                  </a:ext>
                </a:extLst>
              </p:cNvPr>
              <p:cNvGraphicFramePr/>
              <p:nvPr/>
            </p:nvGraphicFramePr>
            <p:xfrm>
              <a:off x="1958341" y="2813273"/>
              <a:ext cx="1173479" cy="1290096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173479" cy="1290096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20715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3" name="3D-Modell 22" descr="Hellgraue Kugel">
                <a:extLst>
                  <a:ext uri="{FF2B5EF4-FFF2-40B4-BE49-F238E27FC236}">
                    <a16:creationId xmlns:a16="http://schemas.microsoft.com/office/drawing/2014/main" id="{6793CF7C-FFCF-45D4-0297-50C79A371A2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58341" y="2813273"/>
                <a:ext cx="1173479" cy="1290096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Textfeld 23">
            <a:extLst>
              <a:ext uri="{FF2B5EF4-FFF2-40B4-BE49-F238E27FC236}">
                <a16:creationId xmlns:a16="http://schemas.microsoft.com/office/drawing/2014/main" id="{0B6310D2-6175-EA56-BDF9-B34E017A5EE2}"/>
              </a:ext>
            </a:extLst>
          </p:cNvPr>
          <p:cNvSpPr txBox="1"/>
          <p:nvPr/>
        </p:nvSpPr>
        <p:spPr>
          <a:xfrm>
            <a:off x="2886635" y="1276344"/>
            <a:ext cx="63627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Presentation</a:t>
            </a:r>
            <a:r>
              <a:rPr lang="de-DE" sz="4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sz="48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Overview</a:t>
            </a:r>
            <a:endParaRPr lang="de-DE" sz="4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5C8A343E-76E1-8EE9-5AD1-53137D272F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52002" y="-381136"/>
            <a:ext cx="3238637" cy="2159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848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764510-4CC0-0BB8-906D-B2759825B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winkliges Dreieck 3">
            <a:extLst>
              <a:ext uri="{FF2B5EF4-FFF2-40B4-BE49-F238E27FC236}">
                <a16:creationId xmlns:a16="http://schemas.microsoft.com/office/drawing/2014/main" id="{373E3BB2-9DBB-39DE-E089-4BA24F8613F2}"/>
              </a:ext>
            </a:extLst>
          </p:cNvPr>
          <p:cNvSpPr/>
          <p:nvPr/>
        </p:nvSpPr>
        <p:spPr>
          <a:xfrm flipH="1">
            <a:off x="5863590" y="-50256"/>
            <a:ext cx="6362700" cy="6931116"/>
          </a:xfrm>
          <a:prstGeom prst="rtTriangl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54000">
                <a:schemeClr val="bg1"/>
              </a:gs>
              <a:gs pos="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BCE6EFF4-1AF7-0F0B-7AFD-9AA693E31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2002" y="-381136"/>
            <a:ext cx="3238637" cy="2159091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7C1422B4-93B0-7F3C-D217-2DB1000E2AA2}"/>
              </a:ext>
            </a:extLst>
          </p:cNvPr>
          <p:cNvSpPr txBox="1"/>
          <p:nvPr/>
        </p:nvSpPr>
        <p:spPr>
          <a:xfrm>
            <a:off x="708660" y="1485567"/>
            <a:ext cx="50754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Results</a:t>
            </a:r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sz="32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</a:t>
            </a:r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sz="32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our</a:t>
            </a:r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Evaluation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3B868E4-1655-4AC2-6779-74215E0DC5E0}"/>
              </a:ext>
            </a:extLst>
          </p:cNvPr>
          <p:cNvSpPr txBox="1"/>
          <p:nvPr/>
        </p:nvSpPr>
        <p:spPr>
          <a:xfrm>
            <a:off x="708660" y="2240280"/>
            <a:ext cx="54691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sz="2400" b="1" dirty="0">
                <a:solidFill>
                  <a:schemeClr val="bg1"/>
                </a:solidFill>
              </a:rPr>
              <a:t>Task 1: Navigation Discovery</a:t>
            </a:r>
            <a:endParaRPr lang="de-DE" sz="2400" dirty="0">
              <a:solidFill>
                <a:schemeClr val="bg1"/>
              </a:solidFill>
            </a:endParaRPr>
          </a:p>
          <a:p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A810F0B6-9FBC-2CF5-746F-16F6F58A99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graphicFrame>
        <p:nvGraphicFramePr>
          <p:cNvPr id="8" name="Chart 2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01704551"/>
              </p:ext>
            </p:extLst>
          </p:nvPr>
        </p:nvGraphicFramePr>
        <p:xfrm>
          <a:off x="859294" y="2836187"/>
          <a:ext cx="4590758" cy="2741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Diagramm 11">
            <a:extLst>
              <a:ext uri="{FF2B5EF4-FFF2-40B4-BE49-F238E27FC236}">
                <a16:creationId xmlns:a16="http://schemas.microsoft.com/office/drawing/2014/main" id="{7CDC8099-498B-E51F-9D97-E04C540AA8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5192330"/>
              </p:ext>
            </p:extLst>
          </p:nvPr>
        </p:nvGraphicFramePr>
        <p:xfrm>
          <a:off x="6748480" y="2836187"/>
          <a:ext cx="4584226" cy="2741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96563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8D5725-BDDB-1536-F9FF-002D3E0AA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fik 20">
            <a:extLst>
              <a:ext uri="{FF2B5EF4-FFF2-40B4-BE49-F238E27FC236}">
                <a16:creationId xmlns:a16="http://schemas.microsoft.com/office/drawing/2014/main" id="{BEF4CF98-D5C4-DDBC-A1A6-A106627DF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2002" y="-381136"/>
            <a:ext cx="3238637" cy="2159091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8188D82D-B4A1-9BFB-D4F8-8C8D7D2A86AB}"/>
              </a:ext>
            </a:extLst>
          </p:cNvPr>
          <p:cNvSpPr txBox="1"/>
          <p:nvPr/>
        </p:nvSpPr>
        <p:spPr>
          <a:xfrm>
            <a:off x="708660" y="1485567"/>
            <a:ext cx="50754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Results</a:t>
            </a:r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sz="32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</a:t>
            </a:r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sz="32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our</a:t>
            </a:r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Evaluation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4F12260-B2B1-9913-B35E-BF9D96B321AC}"/>
              </a:ext>
            </a:extLst>
          </p:cNvPr>
          <p:cNvSpPr txBox="1"/>
          <p:nvPr/>
        </p:nvSpPr>
        <p:spPr>
          <a:xfrm>
            <a:off x="708660" y="2240280"/>
            <a:ext cx="54691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sz="2400" b="1" dirty="0">
                <a:solidFill>
                  <a:schemeClr val="bg1"/>
                </a:solidFill>
              </a:rPr>
              <a:t>Task 1: Navigation Discovery</a:t>
            </a:r>
            <a:endParaRPr lang="de-DE" sz="2400" dirty="0">
              <a:solidFill>
                <a:schemeClr val="bg1"/>
              </a:solidFill>
            </a:endParaRPr>
          </a:p>
          <a:p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5C5671C4-EBE1-ABE9-3707-EF2FC8E5CD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314874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graphicFrame>
        <p:nvGraphicFramePr>
          <p:cNvPr id="8" name="Chart 2">
            <a:extLst>
              <a:ext uri="{FF2B5EF4-FFF2-40B4-BE49-F238E27FC236}">
                <a16:creationId xmlns:a16="http://schemas.microsoft.com/office/drawing/2014/main" id="{045CC359-B638-6CFC-3938-E636BCB090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1500634"/>
              </p:ext>
            </p:extLst>
          </p:nvPr>
        </p:nvGraphicFramePr>
        <p:xfrm>
          <a:off x="5863590" y="2108541"/>
          <a:ext cx="2735162" cy="1997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feld 5">
            <a:extLst>
              <a:ext uri="{FF2B5EF4-FFF2-40B4-BE49-F238E27FC236}">
                <a16:creationId xmlns:a16="http://schemas.microsoft.com/office/drawing/2014/main" id="{BAE35DC3-A3BD-6552-E2EC-5D8693607482}"/>
              </a:ext>
            </a:extLst>
          </p:cNvPr>
          <p:cNvSpPr txBox="1"/>
          <p:nvPr/>
        </p:nvSpPr>
        <p:spPr>
          <a:xfrm>
            <a:off x="993668" y="2782883"/>
            <a:ext cx="1033648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 </a:t>
            </a:r>
            <a:r>
              <a:rPr lang="de-DE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long</a:t>
            </a:r>
            <a:r>
              <a:rPr lang="de-DE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did</a:t>
            </a:r>
            <a:r>
              <a:rPr lang="de-DE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</a:t>
            </a:r>
            <a:r>
              <a:rPr lang="de-DE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take</a:t>
            </a:r>
            <a:r>
              <a:rPr lang="de-DE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?</a:t>
            </a: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742950" lvl="1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Median:  24s</a:t>
            </a:r>
          </a:p>
          <a:p>
            <a:pPr marL="742950" lvl="1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Minimum: 3s</a:t>
            </a:r>
          </a:p>
          <a:p>
            <a:pPr marL="742950" lvl="1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Maximum: 120s</a:t>
            </a:r>
          </a:p>
          <a:p>
            <a:pPr marL="742950" lvl="1" indent="-285750">
              <a:buFontTx/>
              <a:buChar char="-"/>
            </a:pP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742950" lvl="1" indent="-285750">
              <a:buFontTx/>
              <a:buChar char="-"/>
            </a:pP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de-DE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</a:t>
            </a:r>
            <a:r>
              <a:rPr lang="de-DE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would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you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change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about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the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navigation</a:t>
            </a:r>
            <a:r>
              <a:rPr lang="de-DE" b="1" dirty="0">
                <a:solidFill>
                  <a:schemeClr val="bg1"/>
                </a:solidFill>
              </a:rPr>
              <a:t>?</a:t>
            </a:r>
            <a:endParaRPr lang="de-DE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742950" lvl="1" indent="-285750">
              <a:buFontTx/>
              <a:buChar char="-"/>
            </a:pPr>
            <a:r>
              <a:rPr lang="de-DE" dirty="0" err="1">
                <a:solidFill>
                  <a:schemeClr val="bg1"/>
                </a:solidFill>
              </a:rPr>
              <a:t>navigation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options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should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remain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permanently</a:t>
            </a:r>
            <a:r>
              <a:rPr lang="de-DE" dirty="0">
                <a:solidFill>
                  <a:schemeClr val="bg1"/>
                </a:solidFill>
              </a:rPr>
              <a:t> visible </a:t>
            </a:r>
            <a:r>
              <a:rPr lang="de-DE" dirty="0" err="1">
                <a:solidFill>
                  <a:schemeClr val="bg1"/>
                </a:solidFill>
              </a:rPr>
              <a:t>without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requiring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menu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opened</a:t>
            </a:r>
            <a:r>
              <a:rPr lang="de-DE" dirty="0">
                <a:solidFill>
                  <a:schemeClr val="bg1"/>
                </a:solidFill>
              </a:rPr>
              <a:t>.</a:t>
            </a:r>
          </a:p>
          <a:p>
            <a:pPr marL="742950" lvl="1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</a:rPr>
              <a:t>While </a:t>
            </a:r>
            <a:r>
              <a:rPr lang="de-DE" dirty="0" err="1">
                <a:solidFill>
                  <a:schemeClr val="bg1"/>
                </a:solidFill>
              </a:rPr>
              <a:t>navigating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from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Ready-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-Buy </a:t>
            </a:r>
            <a:r>
              <a:rPr lang="de-DE" dirty="0" err="1">
                <a:solidFill>
                  <a:schemeClr val="bg1"/>
                </a:solidFill>
              </a:rPr>
              <a:t>section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Filaments </a:t>
            </a:r>
            <a:r>
              <a:rPr lang="de-DE" dirty="0" err="1">
                <a:solidFill>
                  <a:schemeClr val="bg1"/>
                </a:solidFill>
              </a:rPr>
              <a:t>section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page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correctly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switched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Filaments, but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navigation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menu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highlighted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Blueprints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instead</a:t>
            </a:r>
            <a:r>
              <a:rPr lang="de-DE" dirty="0">
                <a:solidFill>
                  <a:schemeClr val="bg1"/>
                </a:solidFill>
              </a:rPr>
              <a:t>.</a:t>
            </a: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742950" lvl="1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</a:rPr>
              <a:t>The </a:t>
            </a:r>
            <a:r>
              <a:rPr lang="de-DE" dirty="0" err="1">
                <a:solidFill>
                  <a:schemeClr val="bg1"/>
                </a:solidFill>
              </a:rPr>
              <a:t>website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does</a:t>
            </a:r>
            <a:r>
              <a:rPr lang="de-DE" dirty="0">
                <a:solidFill>
                  <a:schemeClr val="bg1"/>
                </a:solidFill>
              </a:rPr>
              <a:t> not </a:t>
            </a:r>
            <a:r>
              <a:rPr lang="de-DE" dirty="0" err="1">
                <a:solidFill>
                  <a:schemeClr val="bg1"/>
                </a:solidFill>
              </a:rPr>
              <a:t>clearly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indicate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that</a:t>
            </a:r>
            <a:r>
              <a:rPr lang="de-DE" dirty="0">
                <a:solidFill>
                  <a:schemeClr val="bg1"/>
                </a:solidFill>
              </a:rPr>
              <a:t> additional </a:t>
            </a:r>
            <a:r>
              <a:rPr lang="de-DE" dirty="0" err="1">
                <a:solidFill>
                  <a:schemeClr val="bg1"/>
                </a:solidFill>
              </a:rPr>
              <a:t>content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can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accessed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scrolling</a:t>
            </a:r>
            <a:r>
              <a:rPr lang="de-DE" dirty="0">
                <a:solidFill>
                  <a:schemeClr val="bg1"/>
                </a:solidFill>
              </a:rPr>
              <a:t>.</a:t>
            </a:r>
          </a:p>
          <a:p>
            <a:pPr marL="742950" lvl="1" indent="-285750">
              <a:buFontTx/>
              <a:buChar char="-"/>
            </a:pP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aphicFrame>
        <p:nvGraphicFramePr>
          <p:cNvPr id="9" name="Diagramm 8">
            <a:extLst>
              <a:ext uri="{FF2B5EF4-FFF2-40B4-BE49-F238E27FC236}">
                <a16:creationId xmlns:a16="http://schemas.microsoft.com/office/drawing/2014/main" id="{1AE7535F-7C4D-2ED3-9E7F-D79C14A465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7354857"/>
              </p:ext>
            </p:extLst>
          </p:nvPr>
        </p:nvGraphicFramePr>
        <p:xfrm>
          <a:off x="9055444" y="2112644"/>
          <a:ext cx="2735161" cy="19888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Rechtwinkliges Dreieck 9">
            <a:extLst>
              <a:ext uri="{FF2B5EF4-FFF2-40B4-BE49-F238E27FC236}">
                <a16:creationId xmlns:a16="http://schemas.microsoft.com/office/drawing/2014/main" id="{2643FF00-70A4-D009-33C0-27E1AC02750B}"/>
              </a:ext>
            </a:extLst>
          </p:cNvPr>
          <p:cNvSpPr/>
          <p:nvPr/>
        </p:nvSpPr>
        <p:spPr>
          <a:xfrm flipH="1">
            <a:off x="12197472" y="-50256"/>
            <a:ext cx="6362700" cy="6931116"/>
          </a:xfrm>
          <a:prstGeom prst="rtTriangl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54000">
                <a:schemeClr val="bg1"/>
              </a:gs>
              <a:gs pos="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84089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19F547-0562-084D-5582-E1AF5690C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winkliges Dreieck 3">
            <a:extLst>
              <a:ext uri="{FF2B5EF4-FFF2-40B4-BE49-F238E27FC236}">
                <a16:creationId xmlns:a16="http://schemas.microsoft.com/office/drawing/2014/main" id="{A817052E-60AD-0CAB-614F-D8AB6880DD13}"/>
              </a:ext>
            </a:extLst>
          </p:cNvPr>
          <p:cNvSpPr/>
          <p:nvPr/>
        </p:nvSpPr>
        <p:spPr>
          <a:xfrm flipH="1">
            <a:off x="12200382" y="-50256"/>
            <a:ext cx="6362700" cy="6931116"/>
          </a:xfrm>
          <a:prstGeom prst="rtTriangl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54000">
                <a:schemeClr val="bg1"/>
              </a:gs>
              <a:gs pos="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5191E673-A782-8B4D-F70E-9BE70400C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2002" y="-381136"/>
            <a:ext cx="3238637" cy="2159091"/>
          </a:xfrm>
          <a:prstGeom prst="rect">
            <a:avLst/>
          </a:prstGeom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31B32B9D-1D8B-92B8-B3DE-C42E9B519C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7FFC3E5-08BF-DA07-DF01-32E89B44A0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4494" y="921442"/>
            <a:ext cx="8443012" cy="5461070"/>
          </a:xfrm>
          <a:prstGeom prst="rect">
            <a:avLst/>
          </a:prstGeom>
        </p:spPr>
      </p:pic>
      <p:sp>
        <p:nvSpPr>
          <p:cNvPr id="9" name="Pfeil nach unten 8">
            <a:extLst>
              <a:ext uri="{FF2B5EF4-FFF2-40B4-BE49-F238E27FC236}">
                <a16:creationId xmlns:a16="http://schemas.microsoft.com/office/drawing/2014/main" id="{428C2266-CC93-7863-12DC-84C345FEC677}"/>
              </a:ext>
            </a:extLst>
          </p:cNvPr>
          <p:cNvSpPr/>
          <p:nvPr/>
        </p:nvSpPr>
        <p:spPr>
          <a:xfrm rot="2312101">
            <a:off x="6483038" y="4666961"/>
            <a:ext cx="351676" cy="978408"/>
          </a:xfrm>
          <a:prstGeom prst="downArrow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51995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929AE0-E62B-7C6D-3F03-26F919FAB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FB0BFA7-6614-7FF6-55D4-9E92A72CF9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314874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0" name="Rechtwinkliges Dreieck 9">
            <a:extLst>
              <a:ext uri="{FF2B5EF4-FFF2-40B4-BE49-F238E27FC236}">
                <a16:creationId xmlns:a16="http://schemas.microsoft.com/office/drawing/2014/main" id="{CD334CAB-01D7-CFA7-5AAF-35292EF8A026}"/>
              </a:ext>
            </a:extLst>
          </p:cNvPr>
          <p:cNvSpPr/>
          <p:nvPr/>
        </p:nvSpPr>
        <p:spPr>
          <a:xfrm flipH="1">
            <a:off x="12208623" y="-50256"/>
            <a:ext cx="6362700" cy="6931116"/>
          </a:xfrm>
          <a:prstGeom prst="rtTriangl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54000">
                <a:schemeClr val="bg1"/>
              </a:gs>
              <a:gs pos="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FAEB030-EFDB-5E1F-25C7-6A878AB5C89C}"/>
              </a:ext>
            </a:extLst>
          </p:cNvPr>
          <p:cNvSpPr/>
          <p:nvPr/>
        </p:nvSpPr>
        <p:spPr>
          <a:xfrm>
            <a:off x="2032635" y="2914650"/>
            <a:ext cx="1078230" cy="107442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50800" dir="1740000" algn="ctr" rotWithShape="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4E605AF-4DE0-5FF3-2FB7-41CD51620B02}"/>
              </a:ext>
            </a:extLst>
          </p:cNvPr>
          <p:cNvSpPr/>
          <p:nvPr/>
        </p:nvSpPr>
        <p:spPr>
          <a:xfrm>
            <a:off x="4263390" y="2914650"/>
            <a:ext cx="1078230" cy="10744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71240D0-8F30-0ADC-F265-FE5BD8AD8FFD}"/>
              </a:ext>
            </a:extLst>
          </p:cNvPr>
          <p:cNvSpPr/>
          <p:nvPr/>
        </p:nvSpPr>
        <p:spPr>
          <a:xfrm>
            <a:off x="6473190" y="2914650"/>
            <a:ext cx="1078230" cy="10744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B0C944-BC5F-AC03-9E58-65AF0067CB1C}"/>
              </a:ext>
            </a:extLst>
          </p:cNvPr>
          <p:cNvSpPr/>
          <p:nvPr/>
        </p:nvSpPr>
        <p:spPr>
          <a:xfrm>
            <a:off x="8705850" y="2914650"/>
            <a:ext cx="1078230" cy="10744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7ADA21B-8128-35F9-F59A-0E40C8116204}"/>
              </a:ext>
            </a:extLst>
          </p:cNvPr>
          <p:cNvSpPr txBox="1"/>
          <p:nvPr/>
        </p:nvSpPr>
        <p:spPr>
          <a:xfrm>
            <a:off x="1496589" y="4103369"/>
            <a:ext cx="21126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Task 1:</a:t>
            </a:r>
          </a:p>
          <a:p>
            <a:pPr algn="ctr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Navigation Discovery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B36D9C0-B46D-94AC-160A-27DA57DDC04D}"/>
              </a:ext>
            </a:extLst>
          </p:cNvPr>
          <p:cNvSpPr txBox="1"/>
          <p:nvPr/>
        </p:nvSpPr>
        <p:spPr>
          <a:xfrm>
            <a:off x="3951054" y="4113087"/>
            <a:ext cx="1725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Task 2:</a:t>
            </a:r>
          </a:p>
          <a:p>
            <a:pPr algn="ctr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Shopping Flow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E1CA464-BF42-7A74-A0EA-0A3DA19A0F06}"/>
              </a:ext>
            </a:extLst>
          </p:cNvPr>
          <p:cNvSpPr txBox="1"/>
          <p:nvPr/>
        </p:nvSpPr>
        <p:spPr>
          <a:xfrm>
            <a:off x="6182937" y="4103370"/>
            <a:ext cx="17602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Task 3:</a:t>
            </a:r>
          </a:p>
          <a:p>
            <a:pPr algn="ctr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Profile Management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8930AFA4-DAD7-9940-B34D-A5308FFF8659}"/>
              </a:ext>
            </a:extLst>
          </p:cNvPr>
          <p:cNvSpPr txBox="1"/>
          <p:nvPr/>
        </p:nvSpPr>
        <p:spPr>
          <a:xfrm>
            <a:off x="8460105" y="4103369"/>
            <a:ext cx="1592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Overall </a:t>
            </a:r>
          </a:p>
          <a:p>
            <a:pPr algn="ctr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UI / UX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555EF22-D080-1B48-4283-CBE6CA58EE58}"/>
              </a:ext>
            </a:extLst>
          </p:cNvPr>
          <p:cNvSpPr/>
          <p:nvPr/>
        </p:nvSpPr>
        <p:spPr>
          <a:xfrm>
            <a:off x="3086100" y="3388995"/>
            <a:ext cx="1188720" cy="142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B37A0C13-ECC6-4253-31FB-647867366779}"/>
              </a:ext>
            </a:extLst>
          </p:cNvPr>
          <p:cNvSpPr/>
          <p:nvPr/>
        </p:nvSpPr>
        <p:spPr>
          <a:xfrm>
            <a:off x="5307330" y="3380422"/>
            <a:ext cx="1188720" cy="142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2B5CAA1-08E6-E214-3069-50D782B45518}"/>
              </a:ext>
            </a:extLst>
          </p:cNvPr>
          <p:cNvSpPr/>
          <p:nvPr/>
        </p:nvSpPr>
        <p:spPr>
          <a:xfrm>
            <a:off x="7528560" y="3380422"/>
            <a:ext cx="1188720" cy="142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8" name="3D-Modell 17" descr="Hellgraue Kugel">
                <a:extLst>
                  <a:ext uri="{FF2B5EF4-FFF2-40B4-BE49-F238E27FC236}">
                    <a16:creationId xmlns:a16="http://schemas.microsoft.com/office/drawing/2014/main" id="{243574E6-B768-0BE2-2539-3CB4EE875BFE}"/>
                  </a:ext>
                </a:extLst>
              </p:cNvPr>
              <p:cNvGraphicFramePr/>
              <p:nvPr/>
            </p:nvGraphicFramePr>
            <p:xfrm>
              <a:off x="8643545" y="2783952"/>
              <a:ext cx="1173479" cy="1290096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173479" cy="1290096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20715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8" name="3D-Modell 17" descr="Hellgraue Kugel">
                <a:extLst>
                  <a:ext uri="{FF2B5EF4-FFF2-40B4-BE49-F238E27FC236}">
                    <a16:creationId xmlns:a16="http://schemas.microsoft.com/office/drawing/2014/main" id="{243574E6-B768-0BE2-2539-3CB4EE875BF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43545" y="2783952"/>
                <a:ext cx="1173479" cy="12900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9" name="3D-Modell 18" descr="Hellgraue Kugel">
                <a:extLst>
                  <a:ext uri="{FF2B5EF4-FFF2-40B4-BE49-F238E27FC236}">
                    <a16:creationId xmlns:a16="http://schemas.microsoft.com/office/drawing/2014/main" id="{CADF370A-16C6-98C1-EFE0-BB7C231E687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395128" y="2882699"/>
              <a:ext cx="1212614" cy="1212615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212614" cy="1212615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 ax="-449957" ay="4942122" az="-446017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207154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9" name="3D-Modell 18" descr="Hellgraue Kugel">
                <a:extLst>
                  <a:ext uri="{FF2B5EF4-FFF2-40B4-BE49-F238E27FC236}">
                    <a16:creationId xmlns:a16="http://schemas.microsoft.com/office/drawing/2014/main" id="{CADF370A-16C6-98C1-EFE0-BB7C231E687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95128" y="2882699"/>
                <a:ext cx="1212614" cy="1212615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Oval 19">
            <a:extLst>
              <a:ext uri="{FF2B5EF4-FFF2-40B4-BE49-F238E27FC236}">
                <a16:creationId xmlns:a16="http://schemas.microsoft.com/office/drawing/2014/main" id="{4925FAE0-D996-3F34-1D83-E87EA52766AE}"/>
              </a:ext>
            </a:extLst>
          </p:cNvPr>
          <p:cNvSpPr/>
          <p:nvPr/>
        </p:nvSpPr>
        <p:spPr>
          <a:xfrm>
            <a:off x="4135727" y="2788814"/>
            <a:ext cx="1307592" cy="129610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2" name="3D-Modell 21" descr="Hellgraue Kugel">
                <a:extLst>
                  <a:ext uri="{FF2B5EF4-FFF2-40B4-BE49-F238E27FC236}">
                    <a16:creationId xmlns:a16="http://schemas.microsoft.com/office/drawing/2014/main" id="{D3F90B20-C87F-FA34-8835-FEFD16C1DF5A}"/>
                  </a:ext>
                </a:extLst>
              </p:cNvPr>
              <p:cNvGraphicFramePr/>
              <p:nvPr/>
            </p:nvGraphicFramePr>
            <p:xfrm>
              <a:off x="4202431" y="2798239"/>
              <a:ext cx="1173479" cy="1290096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173479" cy="1290096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20715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2" name="3D-Modell 21" descr="Hellgraue Kugel">
                <a:extLst>
                  <a:ext uri="{FF2B5EF4-FFF2-40B4-BE49-F238E27FC236}">
                    <a16:creationId xmlns:a16="http://schemas.microsoft.com/office/drawing/2014/main" id="{D3F90B20-C87F-FA34-8835-FEFD16C1DF5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02431" y="2798239"/>
                <a:ext cx="1173479" cy="12900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3" name="3D-Modell 22" descr="Hellgraue Kugel">
                <a:extLst>
                  <a:ext uri="{FF2B5EF4-FFF2-40B4-BE49-F238E27FC236}">
                    <a16:creationId xmlns:a16="http://schemas.microsoft.com/office/drawing/2014/main" id="{69DDAFCD-176D-03C4-B6BE-734172C9CFF8}"/>
                  </a:ext>
                </a:extLst>
              </p:cNvPr>
              <p:cNvGraphicFramePr/>
              <p:nvPr/>
            </p:nvGraphicFramePr>
            <p:xfrm>
              <a:off x="1958341" y="2813273"/>
              <a:ext cx="1173479" cy="1290096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173479" cy="1290096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20715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3" name="3D-Modell 22" descr="Hellgraue Kugel">
                <a:extLst>
                  <a:ext uri="{FF2B5EF4-FFF2-40B4-BE49-F238E27FC236}">
                    <a16:creationId xmlns:a16="http://schemas.microsoft.com/office/drawing/2014/main" id="{69DDAFCD-176D-03C4-B6BE-734172C9CFF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58341" y="2813273"/>
                <a:ext cx="1173479" cy="1290096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Textfeld 23">
            <a:extLst>
              <a:ext uri="{FF2B5EF4-FFF2-40B4-BE49-F238E27FC236}">
                <a16:creationId xmlns:a16="http://schemas.microsoft.com/office/drawing/2014/main" id="{662EAB73-4B58-2469-F525-F0C9117F6EC0}"/>
              </a:ext>
            </a:extLst>
          </p:cNvPr>
          <p:cNvSpPr txBox="1"/>
          <p:nvPr/>
        </p:nvSpPr>
        <p:spPr>
          <a:xfrm>
            <a:off x="2886635" y="1276344"/>
            <a:ext cx="63627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Presentation</a:t>
            </a:r>
            <a:r>
              <a:rPr lang="de-DE" sz="4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sz="48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Overview</a:t>
            </a:r>
            <a:endParaRPr lang="de-DE" sz="4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1370ADCC-8726-63B7-90F2-D0CB31E65E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52002" y="-381136"/>
            <a:ext cx="3238637" cy="2159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420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BE02B4-71A7-6A84-1BA5-73CEC3EA2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winkliges Dreieck 3">
            <a:extLst>
              <a:ext uri="{FF2B5EF4-FFF2-40B4-BE49-F238E27FC236}">
                <a16:creationId xmlns:a16="http://schemas.microsoft.com/office/drawing/2014/main" id="{5693AE29-0F7F-3846-B404-FA62AFEACB16}"/>
              </a:ext>
            </a:extLst>
          </p:cNvPr>
          <p:cNvSpPr/>
          <p:nvPr/>
        </p:nvSpPr>
        <p:spPr>
          <a:xfrm flipH="1">
            <a:off x="5863590" y="-50256"/>
            <a:ext cx="6362700" cy="6931116"/>
          </a:xfrm>
          <a:prstGeom prst="rtTriangl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54000">
                <a:schemeClr val="bg1"/>
              </a:gs>
              <a:gs pos="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FBDE6AA5-A8B4-F25A-7F84-F005A8E96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2002" y="-381136"/>
            <a:ext cx="3238637" cy="2159091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6018EE8D-BB50-4070-1464-736EABF97E6F}"/>
              </a:ext>
            </a:extLst>
          </p:cNvPr>
          <p:cNvSpPr txBox="1"/>
          <p:nvPr/>
        </p:nvSpPr>
        <p:spPr>
          <a:xfrm>
            <a:off x="708660" y="1485567"/>
            <a:ext cx="50754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Results</a:t>
            </a:r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sz="32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</a:t>
            </a:r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sz="32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our</a:t>
            </a:r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Evaluation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1E187FC-AE30-A843-F108-2AE346B1817E}"/>
              </a:ext>
            </a:extLst>
          </p:cNvPr>
          <p:cNvSpPr txBox="1"/>
          <p:nvPr/>
        </p:nvSpPr>
        <p:spPr>
          <a:xfrm>
            <a:off x="708660" y="2240280"/>
            <a:ext cx="54691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sz="2400" b="1" dirty="0">
                <a:solidFill>
                  <a:schemeClr val="bg1"/>
                </a:solidFill>
              </a:rPr>
              <a:t>Task 2: Shopping Flow</a:t>
            </a:r>
            <a:endParaRPr lang="de-DE" sz="2400" dirty="0">
              <a:solidFill>
                <a:schemeClr val="bg1"/>
              </a:solidFill>
            </a:endParaRPr>
          </a:p>
          <a:p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FEA990B0-F0C0-3AC1-9253-4AFEE747C8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graphicFrame>
        <p:nvGraphicFramePr>
          <p:cNvPr id="8" name="Chart 2">
            <a:extLst>
              <a:ext uri="{FF2B5EF4-FFF2-40B4-BE49-F238E27FC236}">
                <a16:creationId xmlns:a16="http://schemas.microsoft.com/office/drawing/2014/main" id="{94D77F66-D72C-AE6C-2B2B-DF08179A4C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0567656"/>
              </p:ext>
            </p:extLst>
          </p:nvPr>
        </p:nvGraphicFramePr>
        <p:xfrm>
          <a:off x="859294" y="2836187"/>
          <a:ext cx="4590758" cy="2741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Diagramm 11">
            <a:extLst>
              <a:ext uri="{FF2B5EF4-FFF2-40B4-BE49-F238E27FC236}">
                <a16:creationId xmlns:a16="http://schemas.microsoft.com/office/drawing/2014/main" id="{56A9D9C7-7875-F970-A61C-6671C3A7E93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7973397"/>
              </p:ext>
            </p:extLst>
          </p:nvPr>
        </p:nvGraphicFramePr>
        <p:xfrm>
          <a:off x="6748480" y="2836187"/>
          <a:ext cx="4584226" cy="2741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" name="Diagramm 4">
            <a:extLst>
              <a:ext uri="{FF2B5EF4-FFF2-40B4-BE49-F238E27FC236}">
                <a16:creationId xmlns:a16="http://schemas.microsoft.com/office/drawing/2014/main" id="{7E9DCCF3-7923-1996-3A64-C1D8FFE6B3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6084612"/>
              </p:ext>
            </p:extLst>
          </p:nvPr>
        </p:nvGraphicFramePr>
        <p:xfrm>
          <a:off x="862323" y="2836187"/>
          <a:ext cx="45847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9" name="Diagramm 8">
            <a:extLst>
              <a:ext uri="{FF2B5EF4-FFF2-40B4-BE49-F238E27FC236}">
                <a16:creationId xmlns:a16="http://schemas.microsoft.com/office/drawing/2014/main" id="{C4119F30-3CF2-114A-37BB-84F5CF4A23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2562301"/>
              </p:ext>
            </p:extLst>
          </p:nvPr>
        </p:nvGraphicFramePr>
        <p:xfrm>
          <a:off x="6748480" y="2836187"/>
          <a:ext cx="4634385" cy="27806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3052034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F626BE-BDBC-3E91-D805-3C8CF78E0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winkliges Dreieck 3">
            <a:extLst>
              <a:ext uri="{FF2B5EF4-FFF2-40B4-BE49-F238E27FC236}">
                <a16:creationId xmlns:a16="http://schemas.microsoft.com/office/drawing/2014/main" id="{F098E018-392B-C966-96DD-5B5DC2876AFE}"/>
              </a:ext>
            </a:extLst>
          </p:cNvPr>
          <p:cNvSpPr/>
          <p:nvPr/>
        </p:nvSpPr>
        <p:spPr>
          <a:xfrm flipH="1">
            <a:off x="5863590" y="-50256"/>
            <a:ext cx="6362700" cy="6931116"/>
          </a:xfrm>
          <a:prstGeom prst="rtTriangl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54000">
                <a:schemeClr val="bg1"/>
              </a:gs>
              <a:gs pos="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1AC3703B-8212-435B-9BE6-075CFB636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2002" y="-381136"/>
            <a:ext cx="3238637" cy="2159091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AEADB0AB-E460-E03D-0957-75214EDCABBB}"/>
              </a:ext>
            </a:extLst>
          </p:cNvPr>
          <p:cNvSpPr txBox="1"/>
          <p:nvPr/>
        </p:nvSpPr>
        <p:spPr>
          <a:xfrm>
            <a:off x="708660" y="1485567"/>
            <a:ext cx="50754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Results</a:t>
            </a:r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sz="32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</a:t>
            </a:r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sz="32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our</a:t>
            </a:r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Evaluation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789413D-0B0B-25AB-F10C-465DB07B3C7B}"/>
              </a:ext>
            </a:extLst>
          </p:cNvPr>
          <p:cNvSpPr txBox="1"/>
          <p:nvPr/>
        </p:nvSpPr>
        <p:spPr>
          <a:xfrm>
            <a:off x="708660" y="2240280"/>
            <a:ext cx="54691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sz="2400" b="1" dirty="0">
                <a:solidFill>
                  <a:schemeClr val="bg1"/>
                </a:solidFill>
              </a:rPr>
              <a:t>Task 2: Shopping Flow</a:t>
            </a:r>
            <a:endParaRPr lang="de-DE" sz="2400" dirty="0">
              <a:solidFill>
                <a:schemeClr val="bg1"/>
              </a:solidFill>
            </a:endParaRPr>
          </a:p>
          <a:p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892F325B-B00C-3E02-1A0A-FB91E9E512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graphicFrame>
        <p:nvGraphicFramePr>
          <p:cNvPr id="8" name="Chart 2">
            <a:extLst>
              <a:ext uri="{FF2B5EF4-FFF2-40B4-BE49-F238E27FC236}">
                <a16:creationId xmlns:a16="http://schemas.microsoft.com/office/drawing/2014/main" id="{5BB4A46B-70F2-0177-A441-4DEDB95B08BC}"/>
              </a:ext>
            </a:extLst>
          </p:cNvPr>
          <p:cNvGraphicFramePr>
            <a:graphicFrameLocks/>
          </p:cNvGraphicFramePr>
          <p:nvPr/>
        </p:nvGraphicFramePr>
        <p:xfrm>
          <a:off x="859294" y="2836187"/>
          <a:ext cx="4590758" cy="2741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Diagramm 11">
            <a:extLst>
              <a:ext uri="{FF2B5EF4-FFF2-40B4-BE49-F238E27FC236}">
                <a16:creationId xmlns:a16="http://schemas.microsoft.com/office/drawing/2014/main" id="{1BA83B0E-BBAF-619D-2181-41A86FB15070}"/>
              </a:ext>
            </a:extLst>
          </p:cNvPr>
          <p:cNvGraphicFramePr>
            <a:graphicFrameLocks/>
          </p:cNvGraphicFramePr>
          <p:nvPr/>
        </p:nvGraphicFramePr>
        <p:xfrm>
          <a:off x="6748480" y="2836187"/>
          <a:ext cx="4584226" cy="2741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4C89E326-07F3-C0B9-ECA0-F7DDE2DE4B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65550692"/>
              </p:ext>
            </p:extLst>
          </p:nvPr>
        </p:nvGraphicFramePr>
        <p:xfrm>
          <a:off x="6748480" y="2847813"/>
          <a:ext cx="4584227" cy="27297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0" name="Diagramm 9">
            <a:extLst>
              <a:ext uri="{FF2B5EF4-FFF2-40B4-BE49-F238E27FC236}">
                <a16:creationId xmlns:a16="http://schemas.microsoft.com/office/drawing/2014/main" id="{E5F24B1E-0179-1037-BF13-56F70AF234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46939742"/>
              </p:ext>
            </p:extLst>
          </p:nvPr>
        </p:nvGraphicFramePr>
        <p:xfrm>
          <a:off x="865826" y="2836187"/>
          <a:ext cx="4584226" cy="27297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17" name="Grafik 16">
            <a:extLst>
              <a:ext uri="{FF2B5EF4-FFF2-40B4-BE49-F238E27FC236}">
                <a16:creationId xmlns:a16="http://schemas.microsoft.com/office/drawing/2014/main" id="{DA01AC06-9B3B-EB5C-9C8F-C454F02291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76542" y="153764"/>
            <a:ext cx="2663606" cy="2663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9361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50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60DBA9-58FD-5986-8B5E-304EF9BB9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fik 20">
            <a:extLst>
              <a:ext uri="{FF2B5EF4-FFF2-40B4-BE49-F238E27FC236}">
                <a16:creationId xmlns:a16="http://schemas.microsoft.com/office/drawing/2014/main" id="{5ABA2ED3-B08F-6BAF-7900-2C570433F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2002" y="-381136"/>
            <a:ext cx="3238637" cy="2159091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C3123FCD-A99A-C3B6-5407-BD2E23315CD5}"/>
              </a:ext>
            </a:extLst>
          </p:cNvPr>
          <p:cNvSpPr txBox="1"/>
          <p:nvPr/>
        </p:nvSpPr>
        <p:spPr>
          <a:xfrm>
            <a:off x="708660" y="1485567"/>
            <a:ext cx="50754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Results</a:t>
            </a:r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sz="32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</a:t>
            </a:r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sz="32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our</a:t>
            </a:r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Evaluation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7055488-6252-D772-54B8-017046D1BADE}"/>
              </a:ext>
            </a:extLst>
          </p:cNvPr>
          <p:cNvSpPr txBox="1"/>
          <p:nvPr/>
        </p:nvSpPr>
        <p:spPr>
          <a:xfrm>
            <a:off x="708660" y="2240280"/>
            <a:ext cx="54691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sz="2400" b="1" dirty="0">
                <a:solidFill>
                  <a:schemeClr val="bg1"/>
                </a:solidFill>
              </a:rPr>
              <a:t>Task 2: Shopping Flow</a:t>
            </a:r>
            <a:endParaRPr lang="de-DE" sz="2400" dirty="0">
              <a:solidFill>
                <a:schemeClr val="bg1"/>
              </a:solidFill>
            </a:endParaRPr>
          </a:p>
          <a:p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C9C56DAF-8513-A2C3-0346-283CAC5CFC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314874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graphicFrame>
        <p:nvGraphicFramePr>
          <p:cNvPr id="8" name="Chart 2">
            <a:extLst>
              <a:ext uri="{FF2B5EF4-FFF2-40B4-BE49-F238E27FC236}">
                <a16:creationId xmlns:a16="http://schemas.microsoft.com/office/drawing/2014/main" id="{E7948828-6628-C4FD-8A66-0A5C65D5DB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320202"/>
              </p:ext>
            </p:extLst>
          </p:nvPr>
        </p:nvGraphicFramePr>
        <p:xfrm>
          <a:off x="5863590" y="2108541"/>
          <a:ext cx="2735162" cy="1997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feld 5">
            <a:extLst>
              <a:ext uri="{FF2B5EF4-FFF2-40B4-BE49-F238E27FC236}">
                <a16:creationId xmlns:a16="http://schemas.microsoft.com/office/drawing/2014/main" id="{AE2CBA39-12A4-A779-1524-DD89F223C5A2}"/>
              </a:ext>
            </a:extLst>
          </p:cNvPr>
          <p:cNvSpPr txBox="1"/>
          <p:nvPr/>
        </p:nvSpPr>
        <p:spPr>
          <a:xfrm>
            <a:off x="993668" y="2782883"/>
            <a:ext cx="1033648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 </a:t>
            </a:r>
            <a:r>
              <a:rPr lang="de-DE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long</a:t>
            </a:r>
            <a:r>
              <a:rPr lang="de-DE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did</a:t>
            </a:r>
            <a:r>
              <a:rPr lang="de-DE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</a:t>
            </a:r>
            <a:r>
              <a:rPr lang="de-DE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take</a:t>
            </a:r>
            <a:r>
              <a:rPr lang="de-DE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?</a:t>
            </a: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742950" lvl="1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Median:  55s</a:t>
            </a:r>
          </a:p>
          <a:p>
            <a:pPr marL="742950" lvl="1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Minimum: 5s</a:t>
            </a:r>
          </a:p>
          <a:p>
            <a:pPr marL="742950" lvl="1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Maximum: 240s</a:t>
            </a:r>
          </a:p>
          <a:p>
            <a:pPr marL="742950" lvl="1" indent="-285750">
              <a:buFontTx/>
              <a:buChar char="-"/>
            </a:pP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742950" lvl="1" indent="-285750">
              <a:buFontTx/>
              <a:buChar char="-"/>
            </a:pP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de-DE" b="1" dirty="0" err="1">
                <a:solidFill>
                  <a:schemeClr val="bg1"/>
                </a:solidFill>
              </a:rPr>
              <a:t>Suggestions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for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improvement</a:t>
            </a:r>
            <a:r>
              <a:rPr lang="de-DE" b="1" dirty="0">
                <a:solidFill>
                  <a:schemeClr val="bg1"/>
                </a:solidFill>
              </a:rPr>
              <a:t>?</a:t>
            </a:r>
            <a:endParaRPr lang="de-DE" dirty="0">
              <a:solidFill>
                <a:schemeClr val="bg1"/>
              </a:solidFill>
            </a:endParaRPr>
          </a:p>
          <a:p>
            <a:pPr marL="742950" lvl="1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</a:rPr>
              <a:t>A </a:t>
            </a:r>
            <a:r>
              <a:rPr lang="de-DE" dirty="0" err="1">
                <a:solidFill>
                  <a:schemeClr val="bg1"/>
                </a:solidFill>
              </a:rPr>
              <a:t>dedicated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remove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button</a:t>
            </a:r>
            <a:r>
              <a:rPr lang="de-DE" dirty="0">
                <a:solidFill>
                  <a:schemeClr val="bg1"/>
                </a:solidFill>
              </a:rPr>
              <a:t> (e.g., an “X” </a:t>
            </a:r>
            <a:r>
              <a:rPr lang="de-DE" dirty="0" err="1">
                <a:solidFill>
                  <a:schemeClr val="bg1"/>
                </a:solidFill>
              </a:rPr>
              <a:t>icon</a:t>
            </a:r>
            <a:r>
              <a:rPr lang="de-DE" dirty="0">
                <a:solidFill>
                  <a:schemeClr val="bg1"/>
                </a:solidFill>
              </a:rPr>
              <a:t>) </a:t>
            </a:r>
            <a:r>
              <a:rPr lang="de-DE" dirty="0" err="1">
                <a:solidFill>
                  <a:schemeClr val="bg1"/>
                </a:solidFill>
              </a:rPr>
              <a:t>would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make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deleting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items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much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easier</a:t>
            </a:r>
            <a:r>
              <a:rPr lang="de-DE" dirty="0">
                <a:solidFill>
                  <a:schemeClr val="bg1"/>
                </a:solidFill>
              </a:rPr>
              <a:t>.</a:t>
            </a:r>
          </a:p>
          <a:p>
            <a:pPr marL="742950" lvl="1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</a:rPr>
              <a:t>The </a:t>
            </a:r>
            <a:r>
              <a:rPr lang="de-DE" dirty="0" err="1">
                <a:solidFill>
                  <a:schemeClr val="bg1"/>
                </a:solidFill>
              </a:rPr>
              <a:t>website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should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provide</a:t>
            </a:r>
            <a:r>
              <a:rPr lang="de-DE" dirty="0">
                <a:solidFill>
                  <a:schemeClr val="bg1"/>
                </a:solidFill>
              </a:rPr>
              <a:t> a </a:t>
            </a:r>
            <a:r>
              <a:rPr lang="de-DE" dirty="0" err="1">
                <a:solidFill>
                  <a:schemeClr val="bg1"/>
                </a:solidFill>
              </a:rPr>
              <a:t>clearer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indication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that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users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need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scroll down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access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Blueprints</a:t>
            </a:r>
            <a:r>
              <a:rPr lang="de-DE" dirty="0">
                <a:solidFill>
                  <a:schemeClr val="bg1"/>
                </a:solidFill>
              </a:rPr>
              <a:t> and Ready-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-Buy </a:t>
            </a:r>
            <a:r>
              <a:rPr lang="de-DE" dirty="0" err="1">
                <a:solidFill>
                  <a:schemeClr val="bg1"/>
                </a:solidFill>
              </a:rPr>
              <a:t>sections</a:t>
            </a:r>
            <a:r>
              <a:rPr lang="de-DE" dirty="0">
                <a:solidFill>
                  <a:schemeClr val="bg1"/>
                </a:solidFill>
              </a:rPr>
              <a:t>.</a:t>
            </a:r>
          </a:p>
          <a:p>
            <a:pPr marL="742950" lvl="1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</a:rPr>
              <a:t>The </a:t>
            </a:r>
            <a:r>
              <a:rPr lang="de-DE" dirty="0" err="1">
                <a:solidFill>
                  <a:schemeClr val="bg1"/>
                </a:solidFill>
              </a:rPr>
              <a:t>shopping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cart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icon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is</a:t>
            </a:r>
            <a:r>
              <a:rPr lang="de-DE" dirty="0">
                <a:solidFill>
                  <a:schemeClr val="bg1"/>
                </a:solidFill>
              </a:rPr>
              <a:t> not </a:t>
            </a:r>
            <a:r>
              <a:rPr lang="de-DE" dirty="0" err="1">
                <a:solidFill>
                  <a:schemeClr val="bg1"/>
                </a:solidFill>
              </a:rPr>
              <a:t>immediately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recognizable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as</a:t>
            </a:r>
            <a:r>
              <a:rPr lang="de-DE" dirty="0">
                <a:solidFill>
                  <a:schemeClr val="bg1"/>
                </a:solidFill>
              </a:rPr>
              <a:t> a </a:t>
            </a:r>
            <a:r>
              <a:rPr lang="de-DE" dirty="0" err="1">
                <a:solidFill>
                  <a:schemeClr val="bg1"/>
                </a:solidFill>
              </a:rPr>
              <a:t>shopping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cart</a:t>
            </a:r>
            <a:r>
              <a:rPr lang="de-DE" dirty="0">
                <a:solidFill>
                  <a:schemeClr val="bg1"/>
                </a:solidFill>
              </a:rPr>
              <a:t>.</a:t>
            </a:r>
          </a:p>
          <a:p>
            <a:pPr marL="742950" lvl="1" indent="-285750">
              <a:buFontTx/>
              <a:buChar char="-"/>
            </a:pPr>
            <a:endParaRPr lang="de-DE" dirty="0">
              <a:solidFill>
                <a:schemeClr val="bg1"/>
              </a:solidFill>
            </a:endParaRPr>
          </a:p>
          <a:p>
            <a:pPr lvl="1"/>
            <a:endParaRPr lang="de-DE" dirty="0">
              <a:solidFill>
                <a:schemeClr val="bg1"/>
              </a:solidFill>
            </a:endParaRPr>
          </a:p>
          <a:p>
            <a:pPr marL="742950" lvl="1" indent="-285750">
              <a:buFontTx/>
              <a:buChar char="-"/>
            </a:pP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aphicFrame>
        <p:nvGraphicFramePr>
          <p:cNvPr id="9" name="Diagramm 8">
            <a:extLst>
              <a:ext uri="{FF2B5EF4-FFF2-40B4-BE49-F238E27FC236}">
                <a16:creationId xmlns:a16="http://schemas.microsoft.com/office/drawing/2014/main" id="{8A3D6EF0-84F2-E1BC-2BAB-44631515B1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25380249"/>
              </p:ext>
            </p:extLst>
          </p:nvPr>
        </p:nvGraphicFramePr>
        <p:xfrm>
          <a:off x="9055444" y="2112644"/>
          <a:ext cx="2735161" cy="19888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2A22E08F-4E7D-0619-6FC2-7F64FB2813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4313775"/>
              </p:ext>
            </p:extLst>
          </p:nvPr>
        </p:nvGraphicFramePr>
        <p:xfrm>
          <a:off x="5863590" y="2108541"/>
          <a:ext cx="2731401" cy="19929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5" name="Diagramm 4">
            <a:extLst>
              <a:ext uri="{FF2B5EF4-FFF2-40B4-BE49-F238E27FC236}">
                <a16:creationId xmlns:a16="http://schemas.microsoft.com/office/drawing/2014/main" id="{938515C1-3410-F31A-BAA7-CBF54BA047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7136"/>
              </p:ext>
            </p:extLst>
          </p:nvPr>
        </p:nvGraphicFramePr>
        <p:xfrm>
          <a:off x="9051682" y="2108541"/>
          <a:ext cx="2735162" cy="19888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0" name="Rechtwinkliges Dreieck 9">
            <a:extLst>
              <a:ext uri="{FF2B5EF4-FFF2-40B4-BE49-F238E27FC236}">
                <a16:creationId xmlns:a16="http://schemas.microsoft.com/office/drawing/2014/main" id="{F25CE3A7-BCC9-5551-9433-3BB5ECFF3F8D}"/>
              </a:ext>
            </a:extLst>
          </p:cNvPr>
          <p:cNvSpPr/>
          <p:nvPr/>
        </p:nvSpPr>
        <p:spPr>
          <a:xfrm flipH="1">
            <a:off x="12208623" y="-50256"/>
            <a:ext cx="6362700" cy="6931116"/>
          </a:xfrm>
          <a:prstGeom prst="rtTriangl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54000">
                <a:schemeClr val="bg1"/>
              </a:gs>
              <a:gs pos="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457F3D1-CC2D-DCCA-4C41-E42705432B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4304" y="3591178"/>
            <a:ext cx="372583" cy="372583"/>
          </a:xfrm>
          <a:prstGeom prst="rect">
            <a:avLst/>
          </a:prstGeom>
        </p:spPr>
      </p:pic>
      <p:pic>
        <p:nvPicPr>
          <p:cNvPr id="13" name="Grafik 12" descr="FREE Yellow Question Symbol Mark Icon PNG | Citypng">
            <a:extLst>
              <a:ext uri="{FF2B5EF4-FFF2-40B4-BE49-F238E27FC236}">
                <a16:creationId xmlns:a16="http://schemas.microsoft.com/office/drawing/2014/main" id="{7C9EC507-12DC-5B58-CFC3-64BCFE50C8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32190" y="3400750"/>
            <a:ext cx="241593" cy="241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396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382EFF-5373-9EEB-3E26-98E40FD2A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winkliges Dreieck 3">
            <a:extLst>
              <a:ext uri="{FF2B5EF4-FFF2-40B4-BE49-F238E27FC236}">
                <a16:creationId xmlns:a16="http://schemas.microsoft.com/office/drawing/2014/main" id="{AF89191E-49FD-717A-D1CA-9BA3A7863923}"/>
              </a:ext>
            </a:extLst>
          </p:cNvPr>
          <p:cNvSpPr/>
          <p:nvPr/>
        </p:nvSpPr>
        <p:spPr>
          <a:xfrm flipH="1">
            <a:off x="12200382" y="-50256"/>
            <a:ext cx="6362700" cy="6931116"/>
          </a:xfrm>
          <a:prstGeom prst="rtTriangl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54000">
                <a:schemeClr val="bg1"/>
              </a:gs>
              <a:gs pos="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77472BC7-7BCD-B43E-39F8-29772048C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2002" y="-381136"/>
            <a:ext cx="3238637" cy="2159091"/>
          </a:xfrm>
          <a:prstGeom prst="rect">
            <a:avLst/>
          </a:prstGeom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35FA6B5B-C941-766F-54F6-3DC419C7F0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3FC4CBF-EC6A-ADC8-95B1-FE53C6DF1B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678" y="2041965"/>
            <a:ext cx="9478644" cy="801012"/>
          </a:xfrm>
          <a:prstGeom prst="rect">
            <a:avLst/>
          </a:prstGeom>
        </p:spPr>
      </p:pic>
      <p:sp>
        <p:nvSpPr>
          <p:cNvPr id="9" name="Pfeil nach unten 8">
            <a:extLst>
              <a:ext uri="{FF2B5EF4-FFF2-40B4-BE49-F238E27FC236}">
                <a16:creationId xmlns:a16="http://schemas.microsoft.com/office/drawing/2014/main" id="{6309AF5B-3673-0A57-D979-45CA8B125449}"/>
              </a:ext>
            </a:extLst>
          </p:cNvPr>
          <p:cNvSpPr/>
          <p:nvPr/>
        </p:nvSpPr>
        <p:spPr>
          <a:xfrm rot="2312101">
            <a:off x="10319964" y="1420756"/>
            <a:ext cx="351676" cy="978408"/>
          </a:xfrm>
          <a:prstGeom prst="downArrow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9D890A8-1B5E-4128-6A3C-6644EEC39AD2}"/>
              </a:ext>
            </a:extLst>
          </p:cNvPr>
          <p:cNvSpPr txBox="1"/>
          <p:nvPr/>
        </p:nvSpPr>
        <p:spPr>
          <a:xfrm>
            <a:off x="5695890" y="3430248"/>
            <a:ext cx="8002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OR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09727D5-1673-5ABA-3BB2-BD6C2A6AE2E0}"/>
              </a:ext>
            </a:extLst>
          </p:cNvPr>
          <p:cNvSpPr txBox="1"/>
          <p:nvPr/>
        </p:nvSpPr>
        <p:spPr>
          <a:xfrm>
            <a:off x="3371044" y="4602294"/>
            <a:ext cx="56140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Shopping </a:t>
            </a:r>
            <a:r>
              <a:rPr lang="de-DE" sz="28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Cart</a:t>
            </a:r>
            <a:r>
              <a:rPr lang="de-DE" sz="28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sz="28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 Shopping Bag</a:t>
            </a:r>
            <a:endParaRPr lang="de-DE" sz="28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9278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339E0A-952B-2A6E-7451-AE3FF645F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winkliges Dreieck 3">
            <a:extLst>
              <a:ext uri="{FF2B5EF4-FFF2-40B4-BE49-F238E27FC236}">
                <a16:creationId xmlns:a16="http://schemas.microsoft.com/office/drawing/2014/main" id="{637D523D-33DA-2C3D-D0BD-4BC96DA9C0E1}"/>
              </a:ext>
            </a:extLst>
          </p:cNvPr>
          <p:cNvSpPr/>
          <p:nvPr/>
        </p:nvSpPr>
        <p:spPr>
          <a:xfrm flipH="1">
            <a:off x="12200382" y="-50256"/>
            <a:ext cx="6362700" cy="6931116"/>
          </a:xfrm>
          <a:prstGeom prst="rtTriangl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54000">
                <a:schemeClr val="bg1"/>
              </a:gs>
              <a:gs pos="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F03EFEB0-9002-889B-B3FC-2F69449E6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2002" y="-381136"/>
            <a:ext cx="3238637" cy="2159091"/>
          </a:xfrm>
          <a:prstGeom prst="rect">
            <a:avLst/>
          </a:prstGeom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2094CD2E-70D5-1DED-77D5-DAEB5173D6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25891E0-8931-1191-3B5C-9F18D795A3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4044" y="913199"/>
            <a:ext cx="8263912" cy="5336399"/>
          </a:xfrm>
          <a:prstGeom prst="rect">
            <a:avLst/>
          </a:prstGeom>
        </p:spPr>
      </p:pic>
      <p:sp>
        <p:nvSpPr>
          <p:cNvPr id="9" name="Pfeil nach unten 8">
            <a:extLst>
              <a:ext uri="{FF2B5EF4-FFF2-40B4-BE49-F238E27FC236}">
                <a16:creationId xmlns:a16="http://schemas.microsoft.com/office/drawing/2014/main" id="{47253480-5583-59D5-1ECC-9CD48D7ECE99}"/>
              </a:ext>
            </a:extLst>
          </p:cNvPr>
          <p:cNvSpPr/>
          <p:nvPr/>
        </p:nvSpPr>
        <p:spPr>
          <a:xfrm rot="2312101">
            <a:off x="10244809" y="2044976"/>
            <a:ext cx="351676" cy="978408"/>
          </a:xfrm>
          <a:prstGeom prst="downArrow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53388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2F3760-1EE8-1161-F7A6-B14BF5999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C2C5803-C345-5687-3F68-6C36326DD2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314874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0" name="Rechtwinkliges Dreieck 9">
            <a:extLst>
              <a:ext uri="{FF2B5EF4-FFF2-40B4-BE49-F238E27FC236}">
                <a16:creationId xmlns:a16="http://schemas.microsoft.com/office/drawing/2014/main" id="{BA0FDCBE-015E-CC99-6180-ABE139BE4FC7}"/>
              </a:ext>
            </a:extLst>
          </p:cNvPr>
          <p:cNvSpPr/>
          <p:nvPr/>
        </p:nvSpPr>
        <p:spPr>
          <a:xfrm flipH="1">
            <a:off x="12208623" y="-50256"/>
            <a:ext cx="6362700" cy="6931116"/>
          </a:xfrm>
          <a:prstGeom prst="rtTriangl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54000">
                <a:schemeClr val="bg1"/>
              </a:gs>
              <a:gs pos="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D524418-8671-94CF-8D5D-4B2ACDA0A607}"/>
              </a:ext>
            </a:extLst>
          </p:cNvPr>
          <p:cNvSpPr/>
          <p:nvPr/>
        </p:nvSpPr>
        <p:spPr>
          <a:xfrm>
            <a:off x="2032635" y="2914650"/>
            <a:ext cx="1078230" cy="107442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50800" dir="1740000" algn="ctr" rotWithShape="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935BF77-A89D-898A-045C-D5FE0B9D1977}"/>
              </a:ext>
            </a:extLst>
          </p:cNvPr>
          <p:cNvSpPr/>
          <p:nvPr/>
        </p:nvSpPr>
        <p:spPr>
          <a:xfrm>
            <a:off x="4263390" y="2914650"/>
            <a:ext cx="1078230" cy="10744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4551CF6-AF34-5708-79BD-5E29A435B1B5}"/>
              </a:ext>
            </a:extLst>
          </p:cNvPr>
          <p:cNvSpPr/>
          <p:nvPr/>
        </p:nvSpPr>
        <p:spPr>
          <a:xfrm>
            <a:off x="6473190" y="2914650"/>
            <a:ext cx="1078230" cy="10744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B88AA26-D502-C7B8-53D3-2C412AE45CC2}"/>
              </a:ext>
            </a:extLst>
          </p:cNvPr>
          <p:cNvSpPr/>
          <p:nvPr/>
        </p:nvSpPr>
        <p:spPr>
          <a:xfrm>
            <a:off x="8705850" y="2914650"/>
            <a:ext cx="1078230" cy="10744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C96702C-6AC7-B024-ADB7-BAC845369CAA}"/>
              </a:ext>
            </a:extLst>
          </p:cNvPr>
          <p:cNvSpPr txBox="1"/>
          <p:nvPr/>
        </p:nvSpPr>
        <p:spPr>
          <a:xfrm>
            <a:off x="1496589" y="4103369"/>
            <a:ext cx="21126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Task 1:</a:t>
            </a:r>
          </a:p>
          <a:p>
            <a:pPr algn="ctr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Navigation Discovery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1B09558-8758-0DD2-90A0-CB484CCAAC2F}"/>
              </a:ext>
            </a:extLst>
          </p:cNvPr>
          <p:cNvSpPr txBox="1"/>
          <p:nvPr/>
        </p:nvSpPr>
        <p:spPr>
          <a:xfrm>
            <a:off x="3951054" y="4113087"/>
            <a:ext cx="1725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Task 2:</a:t>
            </a:r>
          </a:p>
          <a:p>
            <a:pPr algn="ctr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Shopping Flow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DADFDAC-78FD-425D-005C-C292E0E834BA}"/>
              </a:ext>
            </a:extLst>
          </p:cNvPr>
          <p:cNvSpPr txBox="1"/>
          <p:nvPr/>
        </p:nvSpPr>
        <p:spPr>
          <a:xfrm>
            <a:off x="6182937" y="4103370"/>
            <a:ext cx="17602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Task 3:</a:t>
            </a:r>
          </a:p>
          <a:p>
            <a:pPr algn="ctr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Profile Management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BB983006-6A25-1135-408F-F80D6B9B58E4}"/>
              </a:ext>
            </a:extLst>
          </p:cNvPr>
          <p:cNvSpPr txBox="1"/>
          <p:nvPr/>
        </p:nvSpPr>
        <p:spPr>
          <a:xfrm>
            <a:off x="8460105" y="4103369"/>
            <a:ext cx="1592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Overall </a:t>
            </a:r>
          </a:p>
          <a:p>
            <a:pPr algn="ctr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UI / UX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EC00E0B1-7598-021E-3C73-E7C724388187}"/>
              </a:ext>
            </a:extLst>
          </p:cNvPr>
          <p:cNvSpPr/>
          <p:nvPr/>
        </p:nvSpPr>
        <p:spPr>
          <a:xfrm>
            <a:off x="3086100" y="3388995"/>
            <a:ext cx="1188720" cy="142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B5B8592C-7EF6-ABD2-D049-E0B8959620C0}"/>
              </a:ext>
            </a:extLst>
          </p:cNvPr>
          <p:cNvSpPr/>
          <p:nvPr/>
        </p:nvSpPr>
        <p:spPr>
          <a:xfrm>
            <a:off x="5307330" y="3380422"/>
            <a:ext cx="1188720" cy="142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FD202003-0D5B-73F6-E332-B0B40094C8DF}"/>
              </a:ext>
            </a:extLst>
          </p:cNvPr>
          <p:cNvSpPr/>
          <p:nvPr/>
        </p:nvSpPr>
        <p:spPr>
          <a:xfrm>
            <a:off x="7528560" y="3380422"/>
            <a:ext cx="1188720" cy="142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8" name="3D-Modell 17" descr="Hellgraue Kugel">
                <a:extLst>
                  <a:ext uri="{FF2B5EF4-FFF2-40B4-BE49-F238E27FC236}">
                    <a16:creationId xmlns:a16="http://schemas.microsoft.com/office/drawing/2014/main" id="{F4642C5C-5223-49E6-D830-967F64F0E544}"/>
                  </a:ext>
                </a:extLst>
              </p:cNvPr>
              <p:cNvGraphicFramePr/>
              <p:nvPr/>
            </p:nvGraphicFramePr>
            <p:xfrm>
              <a:off x="8643545" y="2783952"/>
              <a:ext cx="1173479" cy="1290096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173479" cy="1290096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20715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8" name="3D-Modell 17" descr="Hellgraue Kugel">
                <a:extLst>
                  <a:ext uri="{FF2B5EF4-FFF2-40B4-BE49-F238E27FC236}">
                    <a16:creationId xmlns:a16="http://schemas.microsoft.com/office/drawing/2014/main" id="{F4642C5C-5223-49E6-D830-967F64F0E54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43545" y="2783952"/>
                <a:ext cx="1173479" cy="1290096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Oval 19">
            <a:extLst>
              <a:ext uri="{FF2B5EF4-FFF2-40B4-BE49-F238E27FC236}">
                <a16:creationId xmlns:a16="http://schemas.microsoft.com/office/drawing/2014/main" id="{D2654705-422F-951A-F970-DB4F5D10670D}"/>
              </a:ext>
            </a:extLst>
          </p:cNvPr>
          <p:cNvSpPr/>
          <p:nvPr/>
        </p:nvSpPr>
        <p:spPr>
          <a:xfrm>
            <a:off x="6338594" y="2830378"/>
            <a:ext cx="1307592" cy="129610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2" name="3D-Modell 21" descr="Hellgraue Kugel">
                <a:extLst>
                  <a:ext uri="{FF2B5EF4-FFF2-40B4-BE49-F238E27FC236}">
                    <a16:creationId xmlns:a16="http://schemas.microsoft.com/office/drawing/2014/main" id="{579EB769-66F5-DD82-457F-B4ABEBA96214}"/>
                  </a:ext>
                </a:extLst>
              </p:cNvPr>
              <p:cNvGraphicFramePr/>
              <p:nvPr/>
            </p:nvGraphicFramePr>
            <p:xfrm>
              <a:off x="4202431" y="2798239"/>
              <a:ext cx="1173479" cy="1290096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173479" cy="1290096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20715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2" name="3D-Modell 21" descr="Hellgraue Kugel">
                <a:extLst>
                  <a:ext uri="{FF2B5EF4-FFF2-40B4-BE49-F238E27FC236}">
                    <a16:creationId xmlns:a16="http://schemas.microsoft.com/office/drawing/2014/main" id="{579EB769-66F5-DD82-457F-B4ABEBA962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02431" y="2798239"/>
                <a:ext cx="1173479" cy="12900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3" name="3D-Modell 22" descr="Hellgraue Kugel">
                <a:extLst>
                  <a:ext uri="{FF2B5EF4-FFF2-40B4-BE49-F238E27FC236}">
                    <a16:creationId xmlns:a16="http://schemas.microsoft.com/office/drawing/2014/main" id="{2A2CF3EB-3FDA-C609-50A5-61413ADEAB9C}"/>
                  </a:ext>
                </a:extLst>
              </p:cNvPr>
              <p:cNvGraphicFramePr/>
              <p:nvPr/>
            </p:nvGraphicFramePr>
            <p:xfrm>
              <a:off x="1958341" y="2813273"/>
              <a:ext cx="1173479" cy="1290096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173479" cy="1290096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20715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3" name="3D-Modell 22" descr="Hellgraue Kugel">
                <a:extLst>
                  <a:ext uri="{FF2B5EF4-FFF2-40B4-BE49-F238E27FC236}">
                    <a16:creationId xmlns:a16="http://schemas.microsoft.com/office/drawing/2014/main" id="{2A2CF3EB-3FDA-C609-50A5-61413ADEAB9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58341" y="2813273"/>
                <a:ext cx="1173479" cy="1290096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Textfeld 23">
            <a:extLst>
              <a:ext uri="{FF2B5EF4-FFF2-40B4-BE49-F238E27FC236}">
                <a16:creationId xmlns:a16="http://schemas.microsoft.com/office/drawing/2014/main" id="{B230EE2C-C2C3-89FE-8DB1-DAF3F4C6EA73}"/>
              </a:ext>
            </a:extLst>
          </p:cNvPr>
          <p:cNvSpPr txBox="1"/>
          <p:nvPr/>
        </p:nvSpPr>
        <p:spPr>
          <a:xfrm>
            <a:off x="2886635" y="1276344"/>
            <a:ext cx="63627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Presentation</a:t>
            </a:r>
            <a:r>
              <a:rPr lang="de-DE" sz="4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sz="48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Overview</a:t>
            </a:r>
            <a:endParaRPr lang="de-DE" sz="4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273D6AF8-47E0-4313-045D-7656AFE31E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52002" y="-381136"/>
            <a:ext cx="3238637" cy="2159091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9" name="3D-Modell 18" descr="Hellgraue Kugel">
                <a:extLst>
                  <a:ext uri="{FF2B5EF4-FFF2-40B4-BE49-F238E27FC236}">
                    <a16:creationId xmlns:a16="http://schemas.microsoft.com/office/drawing/2014/main" id="{47843CC3-B993-7B97-8F71-C6D92F90AE2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18029480"/>
                  </p:ext>
                </p:extLst>
              </p:nvPr>
            </p:nvGraphicFramePr>
            <p:xfrm>
              <a:off x="6395128" y="2882699"/>
              <a:ext cx="1212614" cy="1212615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212614" cy="1212615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 ax="-449957" ay="4942122" az="-446017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207154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9" name="3D-Modell 18" descr="Hellgraue Kugel">
                <a:extLst>
                  <a:ext uri="{FF2B5EF4-FFF2-40B4-BE49-F238E27FC236}">
                    <a16:creationId xmlns:a16="http://schemas.microsoft.com/office/drawing/2014/main" id="{47843CC3-B993-7B97-8F71-C6D92F90AE2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95128" y="2882699"/>
                <a:ext cx="1212614" cy="121261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783341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B330A9-E758-C16B-DAB4-4522DB191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winkliges Dreieck 3">
            <a:extLst>
              <a:ext uri="{FF2B5EF4-FFF2-40B4-BE49-F238E27FC236}">
                <a16:creationId xmlns:a16="http://schemas.microsoft.com/office/drawing/2014/main" id="{F0BCC678-B87F-57D3-2BE4-4D4D47C4C7DC}"/>
              </a:ext>
            </a:extLst>
          </p:cNvPr>
          <p:cNvSpPr/>
          <p:nvPr/>
        </p:nvSpPr>
        <p:spPr>
          <a:xfrm flipH="1">
            <a:off x="5863590" y="-50256"/>
            <a:ext cx="6362700" cy="6931116"/>
          </a:xfrm>
          <a:prstGeom prst="rtTriangl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54000">
                <a:schemeClr val="bg1"/>
              </a:gs>
              <a:gs pos="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82AA5310-8940-F7AD-2A40-4BAB33148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2002" y="-381136"/>
            <a:ext cx="3238637" cy="2159091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39E4BAD9-E200-6723-3AC5-64A967731199}"/>
              </a:ext>
            </a:extLst>
          </p:cNvPr>
          <p:cNvSpPr txBox="1"/>
          <p:nvPr/>
        </p:nvSpPr>
        <p:spPr>
          <a:xfrm>
            <a:off x="708660" y="1485567"/>
            <a:ext cx="50754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Results</a:t>
            </a:r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sz="32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</a:t>
            </a:r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sz="32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our</a:t>
            </a:r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Evaluation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A01907C-023E-EA2B-E733-AF135ED2E381}"/>
              </a:ext>
            </a:extLst>
          </p:cNvPr>
          <p:cNvSpPr txBox="1"/>
          <p:nvPr/>
        </p:nvSpPr>
        <p:spPr>
          <a:xfrm>
            <a:off x="708660" y="2240280"/>
            <a:ext cx="54691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sz="2400" b="1" dirty="0">
                <a:solidFill>
                  <a:schemeClr val="bg1"/>
                </a:solidFill>
              </a:rPr>
              <a:t>Task 3: Profile Management</a:t>
            </a:r>
            <a:endParaRPr lang="de-DE" sz="2400" dirty="0">
              <a:solidFill>
                <a:schemeClr val="bg1"/>
              </a:solidFill>
            </a:endParaRPr>
          </a:p>
          <a:p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D0A21E81-8040-8407-58E7-7DC81F4384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graphicFrame>
        <p:nvGraphicFramePr>
          <p:cNvPr id="8" name="Chart 2">
            <a:extLst>
              <a:ext uri="{FF2B5EF4-FFF2-40B4-BE49-F238E27FC236}">
                <a16:creationId xmlns:a16="http://schemas.microsoft.com/office/drawing/2014/main" id="{72AFE76C-7944-0ADB-66F3-68AEAC2A21F9}"/>
              </a:ext>
            </a:extLst>
          </p:cNvPr>
          <p:cNvGraphicFramePr>
            <a:graphicFrameLocks/>
          </p:cNvGraphicFramePr>
          <p:nvPr/>
        </p:nvGraphicFramePr>
        <p:xfrm>
          <a:off x="859294" y="2836187"/>
          <a:ext cx="4590758" cy="2741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Diagramm 11">
            <a:extLst>
              <a:ext uri="{FF2B5EF4-FFF2-40B4-BE49-F238E27FC236}">
                <a16:creationId xmlns:a16="http://schemas.microsoft.com/office/drawing/2014/main" id="{58C992AF-065F-0CD6-951D-C763C1FD529E}"/>
              </a:ext>
            </a:extLst>
          </p:cNvPr>
          <p:cNvGraphicFramePr>
            <a:graphicFrameLocks/>
          </p:cNvGraphicFramePr>
          <p:nvPr/>
        </p:nvGraphicFramePr>
        <p:xfrm>
          <a:off x="6748480" y="2836187"/>
          <a:ext cx="4584226" cy="2741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30DCB494-B88D-A429-D5A8-28E8F53C57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6398327"/>
              </p:ext>
            </p:extLst>
          </p:nvPr>
        </p:nvGraphicFramePr>
        <p:xfrm>
          <a:off x="866770" y="2836188"/>
          <a:ext cx="4576750" cy="2741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0" name="Diagramm 9">
            <a:extLst>
              <a:ext uri="{FF2B5EF4-FFF2-40B4-BE49-F238E27FC236}">
                <a16:creationId xmlns:a16="http://schemas.microsoft.com/office/drawing/2014/main" id="{EDC48A36-E439-D01B-6E65-27A42ECF88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7551300"/>
              </p:ext>
            </p:extLst>
          </p:nvPr>
        </p:nvGraphicFramePr>
        <p:xfrm>
          <a:off x="6748480" y="2836188"/>
          <a:ext cx="4576750" cy="2741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4262936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ADB1B5-0CF1-8EF7-5FE3-ABD23A218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fik 20">
            <a:extLst>
              <a:ext uri="{FF2B5EF4-FFF2-40B4-BE49-F238E27FC236}">
                <a16:creationId xmlns:a16="http://schemas.microsoft.com/office/drawing/2014/main" id="{0AC7ACB6-2AF7-5F2F-AA0A-87A856A98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2002" y="-381136"/>
            <a:ext cx="3238637" cy="2159091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542673B1-88B1-1CBE-148D-D9F4DAEC58F3}"/>
              </a:ext>
            </a:extLst>
          </p:cNvPr>
          <p:cNvSpPr txBox="1"/>
          <p:nvPr/>
        </p:nvSpPr>
        <p:spPr>
          <a:xfrm>
            <a:off x="708660" y="1485567"/>
            <a:ext cx="50754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Results</a:t>
            </a:r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sz="32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</a:t>
            </a:r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sz="32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our</a:t>
            </a:r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Evaluation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C314E38-DD99-38EE-912D-0508C7D99E49}"/>
              </a:ext>
            </a:extLst>
          </p:cNvPr>
          <p:cNvSpPr txBox="1"/>
          <p:nvPr/>
        </p:nvSpPr>
        <p:spPr>
          <a:xfrm>
            <a:off x="708660" y="2240280"/>
            <a:ext cx="54691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sz="2400" b="1" dirty="0">
                <a:solidFill>
                  <a:schemeClr val="bg1"/>
                </a:solidFill>
              </a:rPr>
              <a:t>Task 3: Profile Management</a:t>
            </a:r>
            <a:endParaRPr lang="de-DE" sz="2400" dirty="0">
              <a:solidFill>
                <a:schemeClr val="bg1"/>
              </a:solidFill>
            </a:endParaRPr>
          </a:p>
          <a:p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030D51AB-51A0-FA9B-EBB2-9478E9297B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314874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graphicFrame>
        <p:nvGraphicFramePr>
          <p:cNvPr id="8" name="Chart 2">
            <a:extLst>
              <a:ext uri="{FF2B5EF4-FFF2-40B4-BE49-F238E27FC236}">
                <a16:creationId xmlns:a16="http://schemas.microsoft.com/office/drawing/2014/main" id="{7C50EA8C-EE56-6FC1-F587-DAB267505787}"/>
              </a:ext>
            </a:extLst>
          </p:cNvPr>
          <p:cNvGraphicFramePr>
            <a:graphicFrameLocks/>
          </p:cNvGraphicFramePr>
          <p:nvPr/>
        </p:nvGraphicFramePr>
        <p:xfrm>
          <a:off x="5863590" y="2108541"/>
          <a:ext cx="2735162" cy="1997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feld 5">
            <a:extLst>
              <a:ext uri="{FF2B5EF4-FFF2-40B4-BE49-F238E27FC236}">
                <a16:creationId xmlns:a16="http://schemas.microsoft.com/office/drawing/2014/main" id="{5558EFDF-AEDB-321B-AD99-0C890A70CF7C}"/>
              </a:ext>
            </a:extLst>
          </p:cNvPr>
          <p:cNvSpPr txBox="1"/>
          <p:nvPr/>
        </p:nvSpPr>
        <p:spPr>
          <a:xfrm>
            <a:off x="993668" y="2782883"/>
            <a:ext cx="103364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 </a:t>
            </a:r>
            <a:r>
              <a:rPr lang="de-DE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long</a:t>
            </a:r>
            <a:r>
              <a:rPr lang="de-DE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did</a:t>
            </a:r>
            <a:r>
              <a:rPr lang="de-DE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</a:t>
            </a:r>
            <a:r>
              <a:rPr lang="de-DE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take</a:t>
            </a:r>
            <a:r>
              <a:rPr lang="de-DE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?</a:t>
            </a: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742950" lvl="1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Median:  20s</a:t>
            </a:r>
          </a:p>
          <a:p>
            <a:pPr marL="742950" lvl="1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Minimum: 1,5s</a:t>
            </a:r>
          </a:p>
          <a:p>
            <a:pPr marL="742950" lvl="1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Maximum: 120s</a:t>
            </a:r>
          </a:p>
          <a:p>
            <a:pPr marL="742950" lvl="1" indent="-285750">
              <a:buFontTx/>
              <a:buChar char="-"/>
            </a:pP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de-DE" b="1" dirty="0" err="1">
                <a:solidFill>
                  <a:schemeClr val="bg1"/>
                </a:solidFill>
              </a:rPr>
              <a:t>Suggestions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for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improvement</a:t>
            </a:r>
            <a:r>
              <a:rPr lang="de-DE" b="1" dirty="0">
                <a:solidFill>
                  <a:schemeClr val="bg1"/>
                </a:solidFill>
              </a:rPr>
              <a:t>?</a:t>
            </a:r>
            <a:endParaRPr lang="de-DE" dirty="0">
              <a:solidFill>
                <a:schemeClr val="bg1"/>
              </a:solidFill>
            </a:endParaRPr>
          </a:p>
          <a:p>
            <a:pPr marL="742950" lvl="1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</a:rPr>
              <a:t>A </a:t>
            </a:r>
            <a:r>
              <a:rPr lang="de-DE" dirty="0" err="1">
                <a:solidFill>
                  <a:schemeClr val="bg1"/>
                </a:solidFill>
              </a:rPr>
              <a:t>purchase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history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section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would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useful</a:t>
            </a:r>
            <a:r>
              <a:rPr lang="de-DE" dirty="0">
                <a:solidFill>
                  <a:schemeClr val="bg1"/>
                </a:solidFill>
              </a:rPr>
              <a:t>.</a:t>
            </a:r>
          </a:p>
          <a:p>
            <a:pPr marL="742950" lvl="1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</a:rPr>
              <a:t>A </a:t>
            </a:r>
            <a:r>
              <a:rPr lang="de-DE" dirty="0" err="1">
                <a:solidFill>
                  <a:schemeClr val="bg1"/>
                </a:solidFill>
              </a:rPr>
              <a:t>password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recovery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option</a:t>
            </a:r>
            <a:r>
              <a:rPr lang="de-DE" dirty="0">
                <a:solidFill>
                  <a:schemeClr val="bg1"/>
                </a:solidFill>
              </a:rPr>
              <a:t>.</a:t>
            </a:r>
          </a:p>
          <a:p>
            <a:pPr marL="742950" lvl="1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</a:rPr>
              <a:t>A </a:t>
            </a:r>
            <a:r>
              <a:rPr lang="de-DE" dirty="0" err="1">
                <a:solidFill>
                  <a:schemeClr val="bg1"/>
                </a:solidFill>
              </a:rPr>
              <a:t>password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visibility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toggle</a:t>
            </a:r>
            <a:r>
              <a:rPr lang="de-DE" dirty="0">
                <a:solidFill>
                  <a:schemeClr val="bg1"/>
                </a:solidFill>
              </a:rPr>
              <a:t> (</a:t>
            </a:r>
            <a:r>
              <a:rPr lang="de-DE" dirty="0" err="1">
                <a:solidFill>
                  <a:schemeClr val="bg1"/>
                </a:solidFill>
              </a:rPr>
              <a:t>eye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icon</a:t>
            </a:r>
            <a:r>
              <a:rPr lang="de-DE" dirty="0">
                <a:solidFill>
                  <a:schemeClr val="bg1"/>
                </a:solidFill>
              </a:rPr>
              <a:t>) </a:t>
            </a:r>
            <a:r>
              <a:rPr lang="de-DE" dirty="0" err="1">
                <a:solidFill>
                  <a:schemeClr val="bg1"/>
                </a:solidFill>
              </a:rPr>
              <a:t>should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added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allowing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users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view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password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entered</a:t>
            </a:r>
            <a:r>
              <a:rPr lang="de-DE" dirty="0">
                <a:solidFill>
                  <a:schemeClr val="bg1"/>
                </a:solidFill>
              </a:rPr>
              <a:t>.</a:t>
            </a:r>
          </a:p>
          <a:p>
            <a:pPr marL="742950" lvl="1" indent="-285750">
              <a:buFontTx/>
              <a:buChar char="-"/>
            </a:pPr>
            <a:r>
              <a:rPr lang="de-DE" dirty="0" err="1">
                <a:solidFill>
                  <a:schemeClr val="bg1"/>
                </a:solidFill>
              </a:rPr>
              <a:t>It</a:t>
            </a:r>
            <a:r>
              <a:rPr lang="de-DE" dirty="0">
                <a:solidFill>
                  <a:schemeClr val="bg1"/>
                </a:solidFill>
              </a:rPr>
              <a:t> was not </a:t>
            </a:r>
            <a:r>
              <a:rPr lang="de-DE" dirty="0" err="1">
                <a:solidFill>
                  <a:schemeClr val="bg1"/>
                </a:solidFill>
              </a:rPr>
              <a:t>immediately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obvious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that</a:t>
            </a:r>
            <a:r>
              <a:rPr lang="de-DE" dirty="0">
                <a:solidFill>
                  <a:schemeClr val="bg1"/>
                </a:solidFill>
              </a:rPr>
              <a:t> a </a:t>
            </a:r>
            <a:r>
              <a:rPr lang="de-DE" dirty="0" err="1">
                <a:solidFill>
                  <a:schemeClr val="bg1"/>
                </a:solidFill>
              </a:rPr>
              <a:t>login</a:t>
            </a:r>
            <a:r>
              <a:rPr lang="de-DE" dirty="0">
                <a:solidFill>
                  <a:schemeClr val="bg1"/>
                </a:solidFill>
              </a:rPr>
              <a:t> feature </a:t>
            </a:r>
            <a:r>
              <a:rPr lang="de-DE" dirty="0" err="1">
                <a:solidFill>
                  <a:schemeClr val="bg1"/>
                </a:solidFill>
              </a:rPr>
              <a:t>existed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or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where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it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could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accessed</a:t>
            </a:r>
            <a:r>
              <a:rPr lang="de-DE" dirty="0"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de-DE" dirty="0">
                <a:solidFill>
                  <a:schemeClr val="bg1"/>
                </a:solidFill>
              </a:rPr>
              <a:t>      </a:t>
            </a:r>
          </a:p>
          <a:p>
            <a:pPr lvl="1"/>
            <a:endParaRPr lang="de-DE" dirty="0">
              <a:solidFill>
                <a:schemeClr val="bg1"/>
              </a:solidFill>
            </a:endParaRPr>
          </a:p>
          <a:p>
            <a:pPr marL="742950" lvl="1" indent="-285750">
              <a:buFontTx/>
              <a:buChar char="-"/>
            </a:pP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aphicFrame>
        <p:nvGraphicFramePr>
          <p:cNvPr id="9" name="Diagramm 8">
            <a:extLst>
              <a:ext uri="{FF2B5EF4-FFF2-40B4-BE49-F238E27FC236}">
                <a16:creationId xmlns:a16="http://schemas.microsoft.com/office/drawing/2014/main" id="{21915D3E-34B7-3D05-1349-DE4C0826ED8D}"/>
              </a:ext>
            </a:extLst>
          </p:cNvPr>
          <p:cNvGraphicFramePr>
            <a:graphicFrameLocks/>
          </p:cNvGraphicFramePr>
          <p:nvPr/>
        </p:nvGraphicFramePr>
        <p:xfrm>
          <a:off x="9055444" y="2112644"/>
          <a:ext cx="2735161" cy="19888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Rechtwinkliges Dreieck 9">
            <a:extLst>
              <a:ext uri="{FF2B5EF4-FFF2-40B4-BE49-F238E27FC236}">
                <a16:creationId xmlns:a16="http://schemas.microsoft.com/office/drawing/2014/main" id="{7556EADE-BE07-FE8D-341A-BC971D919DDF}"/>
              </a:ext>
            </a:extLst>
          </p:cNvPr>
          <p:cNvSpPr/>
          <p:nvPr/>
        </p:nvSpPr>
        <p:spPr>
          <a:xfrm flipH="1">
            <a:off x="12208623" y="-50256"/>
            <a:ext cx="6362700" cy="6931116"/>
          </a:xfrm>
          <a:prstGeom prst="rtTriangl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54000">
                <a:schemeClr val="bg1"/>
              </a:gs>
              <a:gs pos="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aphicFrame>
        <p:nvGraphicFramePr>
          <p:cNvPr id="11" name="Diagramm 10">
            <a:extLst>
              <a:ext uri="{FF2B5EF4-FFF2-40B4-BE49-F238E27FC236}">
                <a16:creationId xmlns:a16="http://schemas.microsoft.com/office/drawing/2014/main" id="{1960ED2C-3F19-8723-1AE8-E301683541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6145490"/>
              </p:ext>
            </p:extLst>
          </p:nvPr>
        </p:nvGraphicFramePr>
        <p:xfrm>
          <a:off x="5859829" y="2108542"/>
          <a:ext cx="2752617" cy="1997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4" name="Diagramm 13">
            <a:extLst>
              <a:ext uri="{FF2B5EF4-FFF2-40B4-BE49-F238E27FC236}">
                <a16:creationId xmlns:a16="http://schemas.microsoft.com/office/drawing/2014/main" id="{C6B89C20-579E-0629-7DEF-59E4C9F463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2155913"/>
              </p:ext>
            </p:extLst>
          </p:nvPr>
        </p:nvGraphicFramePr>
        <p:xfrm>
          <a:off x="9055443" y="2108539"/>
          <a:ext cx="2735161" cy="19888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15" name="Grafik 14" descr="FREE Yellow Question Symbol Mark Icon PNG | Citypng">
            <a:extLst>
              <a:ext uri="{FF2B5EF4-FFF2-40B4-BE49-F238E27FC236}">
                <a16:creationId xmlns:a16="http://schemas.microsoft.com/office/drawing/2014/main" id="{A72A66D1-65D0-9F3E-4DE6-B80C2A849D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40010" y="3400750"/>
            <a:ext cx="241593" cy="241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7037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99626A-1921-A178-66E6-3A61A5321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winkliges Dreieck 3">
            <a:extLst>
              <a:ext uri="{FF2B5EF4-FFF2-40B4-BE49-F238E27FC236}">
                <a16:creationId xmlns:a16="http://schemas.microsoft.com/office/drawing/2014/main" id="{32D24518-AEFD-F2AC-4A95-7755A6DC9815}"/>
              </a:ext>
            </a:extLst>
          </p:cNvPr>
          <p:cNvSpPr/>
          <p:nvPr/>
        </p:nvSpPr>
        <p:spPr>
          <a:xfrm flipH="1">
            <a:off x="12200382" y="-50256"/>
            <a:ext cx="6362700" cy="6931116"/>
          </a:xfrm>
          <a:prstGeom prst="rtTriangl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54000">
                <a:schemeClr val="bg1"/>
              </a:gs>
              <a:gs pos="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CDBBB238-7FE9-7C90-B8A5-6F3677755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2002" y="-381136"/>
            <a:ext cx="3238637" cy="2159091"/>
          </a:xfrm>
          <a:prstGeom prst="rect">
            <a:avLst/>
          </a:prstGeom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94AD21A9-52D2-28FB-D5FB-763AC6EBA5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1D34EA0-4F7F-F66F-03F3-C605E82FC1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7650" y="1667495"/>
            <a:ext cx="6616700" cy="1358900"/>
          </a:xfrm>
          <a:prstGeom prst="rect">
            <a:avLst/>
          </a:prstGeom>
          <a:solidFill>
            <a:schemeClr val="accent1"/>
          </a:solidFill>
          <a:ln>
            <a:solidFill>
              <a:srgbClr val="FF0000"/>
            </a:solidFill>
          </a:ln>
        </p:spPr>
      </p:pic>
      <p:sp>
        <p:nvSpPr>
          <p:cNvPr id="9" name="Pfeil nach unten 8">
            <a:extLst>
              <a:ext uri="{FF2B5EF4-FFF2-40B4-BE49-F238E27FC236}">
                <a16:creationId xmlns:a16="http://schemas.microsoft.com/office/drawing/2014/main" id="{5C948B6D-9863-2516-9EA1-772008A02464}"/>
              </a:ext>
            </a:extLst>
          </p:cNvPr>
          <p:cNvSpPr/>
          <p:nvPr/>
        </p:nvSpPr>
        <p:spPr>
          <a:xfrm>
            <a:off x="5920162" y="3220328"/>
            <a:ext cx="351676" cy="978408"/>
          </a:xfrm>
          <a:prstGeom prst="downArrow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BB8D1BF-0A2B-5882-760E-F1ACFC72C1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7650" y="4368038"/>
            <a:ext cx="6616700" cy="135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6852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B4D4AA-8CD1-30DD-C0FE-EF2412F8C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7A4FD73-3EB7-8B55-F6FF-C19E7CD665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314874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0" name="Rechtwinkliges Dreieck 9">
            <a:extLst>
              <a:ext uri="{FF2B5EF4-FFF2-40B4-BE49-F238E27FC236}">
                <a16:creationId xmlns:a16="http://schemas.microsoft.com/office/drawing/2014/main" id="{79B766ED-600B-FFE7-E6AC-12AEFD5E4C1A}"/>
              </a:ext>
            </a:extLst>
          </p:cNvPr>
          <p:cNvSpPr/>
          <p:nvPr/>
        </p:nvSpPr>
        <p:spPr>
          <a:xfrm flipH="1">
            <a:off x="12208623" y="-50256"/>
            <a:ext cx="6362700" cy="6931116"/>
          </a:xfrm>
          <a:prstGeom prst="rtTriangl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54000">
                <a:schemeClr val="bg1"/>
              </a:gs>
              <a:gs pos="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0A8220C-9DF2-BF31-1D84-7D258E65398C}"/>
              </a:ext>
            </a:extLst>
          </p:cNvPr>
          <p:cNvSpPr/>
          <p:nvPr/>
        </p:nvSpPr>
        <p:spPr>
          <a:xfrm>
            <a:off x="2032635" y="2914650"/>
            <a:ext cx="1078230" cy="107442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50800" dir="1740000" algn="ctr" rotWithShape="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A9F5929-5D91-BFA4-6243-ED8353B7328B}"/>
              </a:ext>
            </a:extLst>
          </p:cNvPr>
          <p:cNvSpPr/>
          <p:nvPr/>
        </p:nvSpPr>
        <p:spPr>
          <a:xfrm>
            <a:off x="4263390" y="2914650"/>
            <a:ext cx="1078230" cy="10744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0D0FFCE-C05F-BD2E-12A2-9802D58DFA15}"/>
              </a:ext>
            </a:extLst>
          </p:cNvPr>
          <p:cNvSpPr/>
          <p:nvPr/>
        </p:nvSpPr>
        <p:spPr>
          <a:xfrm>
            <a:off x="6473190" y="2914650"/>
            <a:ext cx="1078230" cy="10744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17C4FDC-D6A2-3622-438F-9935A61D8861}"/>
              </a:ext>
            </a:extLst>
          </p:cNvPr>
          <p:cNvSpPr/>
          <p:nvPr/>
        </p:nvSpPr>
        <p:spPr>
          <a:xfrm>
            <a:off x="8705850" y="2914650"/>
            <a:ext cx="1078230" cy="10744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C2BE47F-77B6-1890-F20A-9D8BAC234148}"/>
              </a:ext>
            </a:extLst>
          </p:cNvPr>
          <p:cNvSpPr txBox="1"/>
          <p:nvPr/>
        </p:nvSpPr>
        <p:spPr>
          <a:xfrm>
            <a:off x="1496589" y="4103369"/>
            <a:ext cx="21126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Task 1:</a:t>
            </a:r>
          </a:p>
          <a:p>
            <a:pPr algn="ctr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Navigation Discovery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299AE37-9DD1-F5CF-5009-B69AB42B8445}"/>
              </a:ext>
            </a:extLst>
          </p:cNvPr>
          <p:cNvSpPr txBox="1"/>
          <p:nvPr/>
        </p:nvSpPr>
        <p:spPr>
          <a:xfrm>
            <a:off x="3951054" y="4113087"/>
            <a:ext cx="1725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Task 2:</a:t>
            </a:r>
          </a:p>
          <a:p>
            <a:pPr algn="ctr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Shopping Flow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F325988A-FE3A-967E-EB15-D6931BF6398D}"/>
              </a:ext>
            </a:extLst>
          </p:cNvPr>
          <p:cNvSpPr txBox="1"/>
          <p:nvPr/>
        </p:nvSpPr>
        <p:spPr>
          <a:xfrm>
            <a:off x="6182937" y="4103370"/>
            <a:ext cx="17602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Task 3:</a:t>
            </a:r>
          </a:p>
          <a:p>
            <a:pPr algn="ctr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Profile Management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624F383-56C5-9B41-CD99-31D9FCF41314}"/>
              </a:ext>
            </a:extLst>
          </p:cNvPr>
          <p:cNvSpPr txBox="1"/>
          <p:nvPr/>
        </p:nvSpPr>
        <p:spPr>
          <a:xfrm>
            <a:off x="8460105" y="4103369"/>
            <a:ext cx="1592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Overall </a:t>
            </a:r>
          </a:p>
          <a:p>
            <a:pPr algn="ctr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UI / UX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EC6C993D-EB22-4F30-841E-1B9116F72AA3}"/>
              </a:ext>
            </a:extLst>
          </p:cNvPr>
          <p:cNvSpPr/>
          <p:nvPr/>
        </p:nvSpPr>
        <p:spPr>
          <a:xfrm>
            <a:off x="3086100" y="3388995"/>
            <a:ext cx="1188720" cy="142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DBBA91E4-5E7F-B814-C82C-029F5433D724}"/>
              </a:ext>
            </a:extLst>
          </p:cNvPr>
          <p:cNvSpPr/>
          <p:nvPr/>
        </p:nvSpPr>
        <p:spPr>
          <a:xfrm>
            <a:off x="5307330" y="3380422"/>
            <a:ext cx="1188720" cy="142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25925285-1766-3D95-2B39-453AC72630AB}"/>
              </a:ext>
            </a:extLst>
          </p:cNvPr>
          <p:cNvSpPr/>
          <p:nvPr/>
        </p:nvSpPr>
        <p:spPr>
          <a:xfrm>
            <a:off x="7528560" y="3380422"/>
            <a:ext cx="1188720" cy="142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9" name="3D-Modell 18" descr="Hellgraue Kugel">
                <a:extLst>
                  <a:ext uri="{FF2B5EF4-FFF2-40B4-BE49-F238E27FC236}">
                    <a16:creationId xmlns:a16="http://schemas.microsoft.com/office/drawing/2014/main" id="{0CBE303F-4207-FE00-AB83-DFCBC134282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395128" y="2882699"/>
              <a:ext cx="1212614" cy="1212615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212614" cy="1212615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 ax="-449957" ay="4942122" az="-446017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207154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9" name="3D-Modell 18" descr="Hellgraue Kugel">
                <a:extLst>
                  <a:ext uri="{FF2B5EF4-FFF2-40B4-BE49-F238E27FC236}">
                    <a16:creationId xmlns:a16="http://schemas.microsoft.com/office/drawing/2014/main" id="{0CBE303F-4207-FE00-AB83-DFCBC134282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95128" y="2882699"/>
                <a:ext cx="1212614" cy="1212615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Oval 19">
            <a:extLst>
              <a:ext uri="{FF2B5EF4-FFF2-40B4-BE49-F238E27FC236}">
                <a16:creationId xmlns:a16="http://schemas.microsoft.com/office/drawing/2014/main" id="{B74687DE-246E-5673-402B-BFA2A97BD37A}"/>
              </a:ext>
            </a:extLst>
          </p:cNvPr>
          <p:cNvSpPr/>
          <p:nvPr/>
        </p:nvSpPr>
        <p:spPr>
          <a:xfrm>
            <a:off x="8572632" y="2778423"/>
            <a:ext cx="1307592" cy="129610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2" name="3D-Modell 21" descr="Hellgraue Kugel">
                <a:extLst>
                  <a:ext uri="{FF2B5EF4-FFF2-40B4-BE49-F238E27FC236}">
                    <a16:creationId xmlns:a16="http://schemas.microsoft.com/office/drawing/2014/main" id="{27A3F369-5CD8-E976-23EA-C89C4DD59291}"/>
                  </a:ext>
                </a:extLst>
              </p:cNvPr>
              <p:cNvGraphicFramePr/>
              <p:nvPr/>
            </p:nvGraphicFramePr>
            <p:xfrm>
              <a:off x="4202431" y="2798239"/>
              <a:ext cx="1173479" cy="1290096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173479" cy="1290096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20715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2" name="3D-Modell 21" descr="Hellgraue Kugel">
                <a:extLst>
                  <a:ext uri="{FF2B5EF4-FFF2-40B4-BE49-F238E27FC236}">
                    <a16:creationId xmlns:a16="http://schemas.microsoft.com/office/drawing/2014/main" id="{27A3F369-5CD8-E976-23EA-C89C4DD5929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02431" y="2798239"/>
                <a:ext cx="1173479" cy="12900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3" name="3D-Modell 22" descr="Hellgraue Kugel">
                <a:extLst>
                  <a:ext uri="{FF2B5EF4-FFF2-40B4-BE49-F238E27FC236}">
                    <a16:creationId xmlns:a16="http://schemas.microsoft.com/office/drawing/2014/main" id="{FD3929C0-30A7-ACD9-4991-E9EDBD1BD539}"/>
                  </a:ext>
                </a:extLst>
              </p:cNvPr>
              <p:cNvGraphicFramePr/>
              <p:nvPr/>
            </p:nvGraphicFramePr>
            <p:xfrm>
              <a:off x="1958341" y="2813273"/>
              <a:ext cx="1173479" cy="1290096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173479" cy="1290096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20715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3" name="3D-Modell 22" descr="Hellgraue Kugel">
                <a:extLst>
                  <a:ext uri="{FF2B5EF4-FFF2-40B4-BE49-F238E27FC236}">
                    <a16:creationId xmlns:a16="http://schemas.microsoft.com/office/drawing/2014/main" id="{FD3929C0-30A7-ACD9-4991-E9EDBD1BD53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58341" y="2813273"/>
                <a:ext cx="1173479" cy="1290096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Textfeld 23">
            <a:extLst>
              <a:ext uri="{FF2B5EF4-FFF2-40B4-BE49-F238E27FC236}">
                <a16:creationId xmlns:a16="http://schemas.microsoft.com/office/drawing/2014/main" id="{57907096-04A1-095C-B172-EDE47D4B5DE6}"/>
              </a:ext>
            </a:extLst>
          </p:cNvPr>
          <p:cNvSpPr txBox="1"/>
          <p:nvPr/>
        </p:nvSpPr>
        <p:spPr>
          <a:xfrm>
            <a:off x="2886635" y="1276344"/>
            <a:ext cx="63627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Presentation</a:t>
            </a:r>
            <a:r>
              <a:rPr lang="de-DE" sz="4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sz="48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Overview</a:t>
            </a:r>
            <a:endParaRPr lang="de-DE" sz="4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A843E1B1-A36E-0AFA-B2B5-166E177899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52002" y="-381136"/>
            <a:ext cx="3238637" cy="2159091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8" name="3D-Modell 17" descr="Hellgraue Kugel">
                <a:extLst>
                  <a:ext uri="{FF2B5EF4-FFF2-40B4-BE49-F238E27FC236}">
                    <a16:creationId xmlns:a16="http://schemas.microsoft.com/office/drawing/2014/main" id="{3FA70AAB-59EB-C10F-EB3E-7117AAF7F55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549909912"/>
                  </p:ext>
                </p:extLst>
              </p:nvPr>
            </p:nvGraphicFramePr>
            <p:xfrm>
              <a:off x="8643545" y="2783952"/>
              <a:ext cx="1173479" cy="1290096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173479" cy="1290096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20715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8" name="3D-Modell 17" descr="Hellgraue Kugel">
                <a:extLst>
                  <a:ext uri="{FF2B5EF4-FFF2-40B4-BE49-F238E27FC236}">
                    <a16:creationId xmlns:a16="http://schemas.microsoft.com/office/drawing/2014/main" id="{3FA70AAB-59EB-C10F-EB3E-7117AAF7F55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643545" y="2783952"/>
                <a:ext cx="1173479" cy="129009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395938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89AC65-2E57-D97B-9550-4B5E8B919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winkliges Dreieck 3">
            <a:extLst>
              <a:ext uri="{FF2B5EF4-FFF2-40B4-BE49-F238E27FC236}">
                <a16:creationId xmlns:a16="http://schemas.microsoft.com/office/drawing/2014/main" id="{1E576603-62BE-134D-A83A-29545B6F29AF}"/>
              </a:ext>
            </a:extLst>
          </p:cNvPr>
          <p:cNvSpPr/>
          <p:nvPr/>
        </p:nvSpPr>
        <p:spPr>
          <a:xfrm flipH="1">
            <a:off x="5863590" y="-50256"/>
            <a:ext cx="6362700" cy="6931116"/>
          </a:xfrm>
          <a:prstGeom prst="rtTriangl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54000">
                <a:schemeClr val="bg1"/>
              </a:gs>
              <a:gs pos="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E6A3FC68-CE01-6939-2F65-3E20E4E48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2002" y="-381136"/>
            <a:ext cx="3238637" cy="2159091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87283632-947F-48D4-8F44-6D28F5A07334}"/>
              </a:ext>
            </a:extLst>
          </p:cNvPr>
          <p:cNvSpPr txBox="1"/>
          <p:nvPr/>
        </p:nvSpPr>
        <p:spPr>
          <a:xfrm>
            <a:off x="708660" y="1485567"/>
            <a:ext cx="50754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Results</a:t>
            </a:r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sz="32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</a:t>
            </a:r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sz="32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our</a:t>
            </a:r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Evaluation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4339620-CA5C-6792-9FB1-15BF53B4F2FE}"/>
              </a:ext>
            </a:extLst>
          </p:cNvPr>
          <p:cNvSpPr txBox="1"/>
          <p:nvPr/>
        </p:nvSpPr>
        <p:spPr>
          <a:xfrm>
            <a:off x="708660" y="2240280"/>
            <a:ext cx="54691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sz="2400" b="1" dirty="0">
                <a:solidFill>
                  <a:schemeClr val="bg1"/>
                </a:solidFill>
              </a:rPr>
              <a:t>Overall UI / UX </a:t>
            </a:r>
            <a:endParaRPr lang="de-DE" sz="2400" dirty="0">
              <a:solidFill>
                <a:schemeClr val="bg1"/>
              </a:solidFill>
            </a:endParaRPr>
          </a:p>
          <a:p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0927D1D5-A02F-4533-6583-8D4B484D76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graphicFrame>
        <p:nvGraphicFramePr>
          <p:cNvPr id="8" name="Chart 2">
            <a:extLst>
              <a:ext uri="{FF2B5EF4-FFF2-40B4-BE49-F238E27FC236}">
                <a16:creationId xmlns:a16="http://schemas.microsoft.com/office/drawing/2014/main" id="{4EDD0EF4-570C-0BE3-E984-B205F0557E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52564635"/>
              </p:ext>
            </p:extLst>
          </p:nvPr>
        </p:nvGraphicFramePr>
        <p:xfrm>
          <a:off x="859294" y="2836187"/>
          <a:ext cx="4590758" cy="2741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Diagramm 11">
            <a:extLst>
              <a:ext uri="{FF2B5EF4-FFF2-40B4-BE49-F238E27FC236}">
                <a16:creationId xmlns:a16="http://schemas.microsoft.com/office/drawing/2014/main" id="{021A7482-02CA-BAC2-B256-17C1ABA0CE00}"/>
              </a:ext>
            </a:extLst>
          </p:cNvPr>
          <p:cNvGraphicFramePr>
            <a:graphicFrameLocks/>
          </p:cNvGraphicFramePr>
          <p:nvPr/>
        </p:nvGraphicFramePr>
        <p:xfrm>
          <a:off x="6748480" y="2836187"/>
          <a:ext cx="4584226" cy="2741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" name="Diagramm 4">
            <a:extLst>
              <a:ext uri="{FF2B5EF4-FFF2-40B4-BE49-F238E27FC236}">
                <a16:creationId xmlns:a16="http://schemas.microsoft.com/office/drawing/2014/main" id="{CC534E49-51FA-5E85-4E34-5E8F47E266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4024964"/>
              </p:ext>
            </p:extLst>
          </p:nvPr>
        </p:nvGraphicFramePr>
        <p:xfrm>
          <a:off x="859294" y="2836187"/>
          <a:ext cx="4604997" cy="2741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9" name="Diagramm 8">
            <a:extLst>
              <a:ext uri="{FF2B5EF4-FFF2-40B4-BE49-F238E27FC236}">
                <a16:creationId xmlns:a16="http://schemas.microsoft.com/office/drawing/2014/main" id="{E91458F6-24B9-C75D-B6CA-C94D93DF2F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2307261"/>
              </p:ext>
            </p:extLst>
          </p:nvPr>
        </p:nvGraphicFramePr>
        <p:xfrm>
          <a:off x="6723853" y="2836187"/>
          <a:ext cx="4608853" cy="2741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7331278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C828CC-2B3A-9811-A04E-4E30C7A24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winkliges Dreieck 3">
            <a:extLst>
              <a:ext uri="{FF2B5EF4-FFF2-40B4-BE49-F238E27FC236}">
                <a16:creationId xmlns:a16="http://schemas.microsoft.com/office/drawing/2014/main" id="{7AAC1AF1-5961-B0E7-DAB3-DEC1EB5DB170}"/>
              </a:ext>
            </a:extLst>
          </p:cNvPr>
          <p:cNvSpPr/>
          <p:nvPr/>
        </p:nvSpPr>
        <p:spPr>
          <a:xfrm flipH="1">
            <a:off x="5863590" y="-50256"/>
            <a:ext cx="6362700" cy="6931116"/>
          </a:xfrm>
          <a:prstGeom prst="rtTriangl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54000">
                <a:schemeClr val="bg1"/>
              </a:gs>
              <a:gs pos="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CAC34213-3102-B2F8-BB6E-8EEE14A01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2002" y="-381136"/>
            <a:ext cx="3238637" cy="2159091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AC888B70-6F2F-F644-1BB3-22DDF2551CF5}"/>
              </a:ext>
            </a:extLst>
          </p:cNvPr>
          <p:cNvSpPr txBox="1"/>
          <p:nvPr/>
        </p:nvSpPr>
        <p:spPr>
          <a:xfrm>
            <a:off x="708660" y="1485567"/>
            <a:ext cx="50754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Results</a:t>
            </a:r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sz="32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</a:t>
            </a:r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sz="32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our</a:t>
            </a:r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Evaluation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2064321-1EB7-B97C-E2EB-FE975CFA2BAD}"/>
              </a:ext>
            </a:extLst>
          </p:cNvPr>
          <p:cNvSpPr txBox="1"/>
          <p:nvPr/>
        </p:nvSpPr>
        <p:spPr>
          <a:xfrm>
            <a:off x="708660" y="2240280"/>
            <a:ext cx="54691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sz="2400" b="1" dirty="0">
                <a:solidFill>
                  <a:schemeClr val="bg1"/>
                </a:solidFill>
              </a:rPr>
              <a:t>Overall UI / UX </a:t>
            </a:r>
            <a:endParaRPr lang="de-DE" sz="2400" dirty="0">
              <a:solidFill>
                <a:schemeClr val="bg1"/>
              </a:solidFill>
            </a:endParaRPr>
          </a:p>
          <a:p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CBD56345-75D8-3332-C5FE-989913AF266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graphicFrame>
        <p:nvGraphicFramePr>
          <p:cNvPr id="8" name="Chart 2">
            <a:extLst>
              <a:ext uri="{FF2B5EF4-FFF2-40B4-BE49-F238E27FC236}">
                <a16:creationId xmlns:a16="http://schemas.microsoft.com/office/drawing/2014/main" id="{884665B8-D668-6FE5-6C00-448D74DBF9C7}"/>
              </a:ext>
            </a:extLst>
          </p:cNvPr>
          <p:cNvGraphicFramePr>
            <a:graphicFrameLocks/>
          </p:cNvGraphicFramePr>
          <p:nvPr/>
        </p:nvGraphicFramePr>
        <p:xfrm>
          <a:off x="859294" y="2836187"/>
          <a:ext cx="4590758" cy="2741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Diagramm 11">
            <a:extLst>
              <a:ext uri="{FF2B5EF4-FFF2-40B4-BE49-F238E27FC236}">
                <a16:creationId xmlns:a16="http://schemas.microsoft.com/office/drawing/2014/main" id="{CB360CD5-A793-A0F4-F9A5-4CB7567C3E21}"/>
              </a:ext>
            </a:extLst>
          </p:cNvPr>
          <p:cNvGraphicFramePr>
            <a:graphicFrameLocks/>
          </p:cNvGraphicFramePr>
          <p:nvPr/>
        </p:nvGraphicFramePr>
        <p:xfrm>
          <a:off x="6748480" y="2836187"/>
          <a:ext cx="4584226" cy="2741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C775BCAC-8221-5371-4587-28A33911A9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6564360"/>
              </p:ext>
            </p:extLst>
          </p:nvPr>
        </p:nvGraphicFramePr>
        <p:xfrm>
          <a:off x="859294" y="2836187"/>
          <a:ext cx="4608853" cy="2741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0" name="Diagramm 9">
            <a:extLst>
              <a:ext uri="{FF2B5EF4-FFF2-40B4-BE49-F238E27FC236}">
                <a16:creationId xmlns:a16="http://schemas.microsoft.com/office/drawing/2014/main" id="{80803CE7-4584-2704-A3B4-7CFA4E5ACC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8531520"/>
              </p:ext>
            </p:extLst>
          </p:nvPr>
        </p:nvGraphicFramePr>
        <p:xfrm>
          <a:off x="6748480" y="2836187"/>
          <a:ext cx="4584226" cy="2741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11" name="Grafik 10">
            <a:extLst>
              <a:ext uri="{FF2B5EF4-FFF2-40B4-BE49-F238E27FC236}">
                <a16:creationId xmlns:a16="http://schemas.microsoft.com/office/drawing/2014/main" id="{72CE5B50-56D7-197D-D50E-69791CC1AE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76542" y="153764"/>
            <a:ext cx="2663606" cy="2663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973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50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F0597D-6964-3BFA-47EA-053A27998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winkliges Dreieck 3">
            <a:extLst>
              <a:ext uri="{FF2B5EF4-FFF2-40B4-BE49-F238E27FC236}">
                <a16:creationId xmlns:a16="http://schemas.microsoft.com/office/drawing/2014/main" id="{BFF49FC2-D58C-79AB-F0CB-FBBB55C2EB85}"/>
              </a:ext>
            </a:extLst>
          </p:cNvPr>
          <p:cNvSpPr/>
          <p:nvPr/>
        </p:nvSpPr>
        <p:spPr>
          <a:xfrm flipH="1">
            <a:off x="5863590" y="-50256"/>
            <a:ext cx="6362700" cy="6931116"/>
          </a:xfrm>
          <a:prstGeom prst="rtTriangl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54000">
                <a:schemeClr val="bg1"/>
              </a:gs>
              <a:gs pos="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1610A2A9-4721-9318-8B37-468C58853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2002" y="-381136"/>
            <a:ext cx="3238637" cy="2159091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66C62BC3-49CC-914C-A8B9-B63DC98A061D}"/>
              </a:ext>
            </a:extLst>
          </p:cNvPr>
          <p:cNvSpPr txBox="1"/>
          <p:nvPr/>
        </p:nvSpPr>
        <p:spPr>
          <a:xfrm>
            <a:off x="708660" y="1485567"/>
            <a:ext cx="50754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Results</a:t>
            </a:r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sz="32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</a:t>
            </a:r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sz="32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our</a:t>
            </a:r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Evaluation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5F25644-F856-F9F5-F07F-243EA04F692D}"/>
              </a:ext>
            </a:extLst>
          </p:cNvPr>
          <p:cNvSpPr txBox="1"/>
          <p:nvPr/>
        </p:nvSpPr>
        <p:spPr>
          <a:xfrm>
            <a:off x="708660" y="2240280"/>
            <a:ext cx="54691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sz="2400" b="1" dirty="0">
                <a:solidFill>
                  <a:schemeClr val="bg1"/>
                </a:solidFill>
              </a:rPr>
              <a:t>Overall UI / UX </a:t>
            </a:r>
            <a:endParaRPr lang="de-DE" sz="2400" dirty="0">
              <a:solidFill>
                <a:schemeClr val="bg1"/>
              </a:solidFill>
            </a:endParaRPr>
          </a:p>
          <a:p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1F930D0C-FC53-A17A-66DA-608F4D1682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graphicFrame>
        <p:nvGraphicFramePr>
          <p:cNvPr id="8" name="Chart 2">
            <a:extLst>
              <a:ext uri="{FF2B5EF4-FFF2-40B4-BE49-F238E27FC236}">
                <a16:creationId xmlns:a16="http://schemas.microsoft.com/office/drawing/2014/main" id="{14F456EF-85DB-0DEA-C81E-1F30EEB00E30}"/>
              </a:ext>
            </a:extLst>
          </p:cNvPr>
          <p:cNvGraphicFramePr>
            <a:graphicFrameLocks/>
          </p:cNvGraphicFramePr>
          <p:nvPr/>
        </p:nvGraphicFramePr>
        <p:xfrm>
          <a:off x="859294" y="2836187"/>
          <a:ext cx="4590758" cy="2741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Diagramm 11">
            <a:extLst>
              <a:ext uri="{FF2B5EF4-FFF2-40B4-BE49-F238E27FC236}">
                <a16:creationId xmlns:a16="http://schemas.microsoft.com/office/drawing/2014/main" id="{0C0EAAC3-1F51-336F-106E-61B9860B84B2}"/>
              </a:ext>
            </a:extLst>
          </p:cNvPr>
          <p:cNvGraphicFramePr>
            <a:graphicFrameLocks/>
          </p:cNvGraphicFramePr>
          <p:nvPr/>
        </p:nvGraphicFramePr>
        <p:xfrm>
          <a:off x="6748480" y="2836187"/>
          <a:ext cx="4584226" cy="2741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" name="Diagramm 4">
            <a:extLst>
              <a:ext uri="{FF2B5EF4-FFF2-40B4-BE49-F238E27FC236}">
                <a16:creationId xmlns:a16="http://schemas.microsoft.com/office/drawing/2014/main" id="{507948FC-659D-6079-E883-B7493D3CA3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8676020"/>
              </p:ext>
            </p:extLst>
          </p:nvPr>
        </p:nvGraphicFramePr>
        <p:xfrm>
          <a:off x="867665" y="2836187"/>
          <a:ext cx="4575855" cy="2741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9" name="Diagramm 8">
            <a:extLst>
              <a:ext uri="{FF2B5EF4-FFF2-40B4-BE49-F238E27FC236}">
                <a16:creationId xmlns:a16="http://schemas.microsoft.com/office/drawing/2014/main" id="{E1840C83-1EBF-E61D-CE11-A50FD74B88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4381758"/>
              </p:ext>
            </p:extLst>
          </p:nvPr>
        </p:nvGraphicFramePr>
        <p:xfrm>
          <a:off x="6748480" y="2836187"/>
          <a:ext cx="4584226" cy="2741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13" name="Grafik 12">
            <a:extLst>
              <a:ext uri="{FF2B5EF4-FFF2-40B4-BE49-F238E27FC236}">
                <a16:creationId xmlns:a16="http://schemas.microsoft.com/office/drawing/2014/main" id="{77B93DE6-E253-E630-8C95-77E5E159D6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7409" y="903109"/>
            <a:ext cx="1541871" cy="1541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166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AD120A-42FC-30D5-CC03-47BF4058E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fik 20">
            <a:extLst>
              <a:ext uri="{FF2B5EF4-FFF2-40B4-BE49-F238E27FC236}">
                <a16:creationId xmlns:a16="http://schemas.microsoft.com/office/drawing/2014/main" id="{F1C1DC18-EF33-1A9D-BAE1-AA2DC8380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2002" y="-381136"/>
            <a:ext cx="3238637" cy="2159091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AEA53ED6-834F-CFFA-6F93-60A19812323D}"/>
              </a:ext>
            </a:extLst>
          </p:cNvPr>
          <p:cNvSpPr txBox="1"/>
          <p:nvPr/>
        </p:nvSpPr>
        <p:spPr>
          <a:xfrm>
            <a:off x="708660" y="1485567"/>
            <a:ext cx="50754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Results</a:t>
            </a:r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sz="32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</a:t>
            </a:r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sz="32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our</a:t>
            </a:r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Evaluation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DDEDD69-EFDB-AABC-A288-94CB621EE45A}"/>
              </a:ext>
            </a:extLst>
          </p:cNvPr>
          <p:cNvSpPr txBox="1"/>
          <p:nvPr/>
        </p:nvSpPr>
        <p:spPr>
          <a:xfrm>
            <a:off x="708660" y="2240280"/>
            <a:ext cx="54691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sz="2400" b="1" dirty="0">
                <a:solidFill>
                  <a:schemeClr val="bg1"/>
                </a:solidFill>
              </a:rPr>
              <a:t>Overall UI / UX </a:t>
            </a:r>
            <a:endParaRPr lang="de-DE" sz="2400" dirty="0">
              <a:solidFill>
                <a:schemeClr val="bg1"/>
              </a:solidFill>
            </a:endParaRPr>
          </a:p>
          <a:p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0524F8F9-A5D3-A744-E456-8A0A4BC745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314874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49CD6AA-328F-9D73-EB40-22178FB1A25A}"/>
              </a:ext>
            </a:extLst>
          </p:cNvPr>
          <p:cNvSpPr txBox="1"/>
          <p:nvPr/>
        </p:nvSpPr>
        <p:spPr>
          <a:xfrm>
            <a:off x="993668" y="2782883"/>
            <a:ext cx="103364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>
                <a:solidFill>
                  <a:schemeClr val="bg1"/>
                </a:solidFill>
              </a:rPr>
              <a:t>Suggestions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for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improvement</a:t>
            </a:r>
            <a:r>
              <a:rPr lang="de-DE" b="1" dirty="0">
                <a:solidFill>
                  <a:schemeClr val="bg1"/>
                </a:solidFill>
              </a:rPr>
              <a:t>?</a:t>
            </a:r>
          </a:p>
          <a:p>
            <a:pPr marL="742950" lvl="1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</a:rPr>
              <a:t>larger </a:t>
            </a:r>
            <a:r>
              <a:rPr lang="de-DE" dirty="0" err="1">
                <a:solidFill>
                  <a:schemeClr val="bg1"/>
                </a:solidFill>
              </a:rPr>
              <a:t>or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permanently</a:t>
            </a:r>
            <a:r>
              <a:rPr lang="de-DE" dirty="0">
                <a:solidFill>
                  <a:schemeClr val="bg1"/>
                </a:solidFill>
              </a:rPr>
              <a:t> visible </a:t>
            </a:r>
            <a:r>
              <a:rPr lang="de-DE" dirty="0" err="1">
                <a:solidFill>
                  <a:schemeClr val="bg1"/>
                </a:solidFill>
              </a:rPr>
              <a:t>navigation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menu</a:t>
            </a:r>
            <a:r>
              <a:rPr lang="de-DE" dirty="0">
                <a:solidFill>
                  <a:schemeClr val="bg1"/>
                </a:solidFill>
              </a:rPr>
              <a:t>.</a:t>
            </a:r>
          </a:p>
          <a:p>
            <a:pPr marL="742950" lvl="1" indent="-285750">
              <a:buFontTx/>
              <a:buChar char="-"/>
            </a:pPr>
            <a:r>
              <a:rPr lang="de-DE" dirty="0" err="1">
                <a:solidFill>
                  <a:schemeClr val="bg1"/>
                </a:solidFill>
              </a:rPr>
              <a:t>When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selecting</a:t>
            </a:r>
            <a:r>
              <a:rPr lang="de-DE" dirty="0">
                <a:solidFill>
                  <a:schemeClr val="bg1"/>
                </a:solidFill>
              </a:rPr>
              <a:t> a </a:t>
            </a:r>
            <a:r>
              <a:rPr lang="de-DE" dirty="0" err="1">
                <a:solidFill>
                  <a:schemeClr val="bg1"/>
                </a:solidFill>
              </a:rPr>
              <a:t>navigation</a:t>
            </a:r>
            <a:r>
              <a:rPr lang="de-DE" dirty="0">
                <a:solidFill>
                  <a:schemeClr val="bg1"/>
                </a:solidFill>
              </a:rPr>
              <a:t> item, </a:t>
            </a:r>
            <a:r>
              <a:rPr lang="de-DE" dirty="0" err="1">
                <a:solidFill>
                  <a:schemeClr val="bg1"/>
                </a:solidFill>
              </a:rPr>
              <a:t>users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should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automatically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taken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top </a:t>
            </a:r>
            <a:r>
              <a:rPr lang="de-DE" dirty="0" err="1">
                <a:solidFill>
                  <a:schemeClr val="bg1"/>
                </a:solidFill>
              </a:rPr>
              <a:t>of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corresponding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page</a:t>
            </a:r>
            <a:r>
              <a:rPr lang="de-DE" dirty="0">
                <a:solidFill>
                  <a:schemeClr val="bg1"/>
                </a:solidFill>
              </a:rPr>
              <a:t>.</a:t>
            </a:r>
          </a:p>
          <a:p>
            <a:pPr marL="742950" lvl="1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</a:rPr>
              <a:t>Support </a:t>
            </a:r>
            <a:r>
              <a:rPr lang="de-DE" dirty="0" err="1">
                <a:solidFill>
                  <a:schemeClr val="bg1"/>
                </a:solidFill>
              </a:rPr>
              <a:t>for</a:t>
            </a:r>
            <a:r>
              <a:rPr lang="de-DE" dirty="0">
                <a:solidFill>
                  <a:schemeClr val="bg1"/>
                </a:solidFill>
              </a:rPr>
              <a:t> Dark Mode in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Profile </a:t>
            </a:r>
            <a:r>
              <a:rPr lang="de-DE" dirty="0" err="1">
                <a:solidFill>
                  <a:schemeClr val="bg1"/>
                </a:solidFill>
              </a:rPr>
              <a:t>section</a:t>
            </a:r>
            <a:r>
              <a:rPr lang="de-DE" dirty="0">
                <a:solidFill>
                  <a:schemeClr val="bg1"/>
                </a:solidFill>
              </a:rPr>
              <a:t>.</a:t>
            </a:r>
          </a:p>
          <a:p>
            <a:pPr marL="742950" lvl="1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</a:rPr>
              <a:t>A </a:t>
            </a:r>
            <a:r>
              <a:rPr lang="de-DE" dirty="0" err="1">
                <a:solidFill>
                  <a:schemeClr val="bg1"/>
                </a:solidFill>
              </a:rPr>
              <a:t>lighter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color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theme</a:t>
            </a:r>
            <a:r>
              <a:rPr lang="de-DE" dirty="0">
                <a:solidFill>
                  <a:schemeClr val="bg1"/>
                </a:solidFill>
              </a:rPr>
              <a:t> (Light Mode) </a:t>
            </a:r>
            <a:r>
              <a:rPr lang="de-DE" dirty="0" err="1">
                <a:solidFill>
                  <a:schemeClr val="bg1"/>
                </a:solidFill>
              </a:rPr>
              <a:t>as</a:t>
            </a:r>
            <a:r>
              <a:rPr lang="de-DE" dirty="0">
                <a:solidFill>
                  <a:schemeClr val="bg1"/>
                </a:solidFill>
              </a:rPr>
              <a:t> an alternative </a:t>
            </a:r>
            <a:r>
              <a:rPr lang="de-DE" dirty="0" err="1">
                <a:solidFill>
                  <a:schemeClr val="bg1"/>
                </a:solidFill>
              </a:rPr>
              <a:t>option</a:t>
            </a:r>
            <a:r>
              <a:rPr lang="de-DE" dirty="0">
                <a:solidFill>
                  <a:schemeClr val="bg1"/>
                </a:solidFill>
              </a:rPr>
              <a:t>.</a:t>
            </a:r>
          </a:p>
          <a:p>
            <a:pPr marL="742950" lvl="1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</a:rPr>
              <a:t>Glass-style UI </a:t>
            </a:r>
            <a:r>
              <a:rPr lang="de-DE" dirty="0" err="1">
                <a:solidFill>
                  <a:schemeClr val="bg1"/>
                </a:solidFill>
              </a:rPr>
              <a:t>elements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should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include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stronger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shadows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or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darker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visual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effects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improve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visibility</a:t>
            </a:r>
            <a:r>
              <a:rPr lang="de-DE" dirty="0">
                <a:solidFill>
                  <a:schemeClr val="bg1"/>
                </a:solidFill>
              </a:rPr>
              <a:t>.</a:t>
            </a:r>
          </a:p>
          <a:p>
            <a:pPr lvl="1"/>
            <a:endParaRPr lang="de-DE" dirty="0">
              <a:solidFill>
                <a:schemeClr val="bg1"/>
              </a:solidFill>
            </a:endParaRPr>
          </a:p>
          <a:p>
            <a:pPr lvl="1"/>
            <a:endParaRPr lang="de-DE" dirty="0">
              <a:solidFill>
                <a:schemeClr val="bg1"/>
              </a:solidFill>
            </a:endParaRPr>
          </a:p>
          <a:p>
            <a:pPr marL="742950" lvl="1" indent="-285750">
              <a:buFontTx/>
              <a:buChar char="-"/>
            </a:pP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" name="Rechtwinkliges Dreieck 9">
            <a:extLst>
              <a:ext uri="{FF2B5EF4-FFF2-40B4-BE49-F238E27FC236}">
                <a16:creationId xmlns:a16="http://schemas.microsoft.com/office/drawing/2014/main" id="{A575F670-3308-9688-E693-2D2EFAA7FAF4}"/>
              </a:ext>
            </a:extLst>
          </p:cNvPr>
          <p:cNvSpPr/>
          <p:nvPr/>
        </p:nvSpPr>
        <p:spPr>
          <a:xfrm flipH="1">
            <a:off x="12208623" y="-50256"/>
            <a:ext cx="6362700" cy="6931116"/>
          </a:xfrm>
          <a:prstGeom prst="rtTriangl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54000">
                <a:schemeClr val="bg1"/>
              </a:gs>
              <a:gs pos="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2990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FA809B-A5C4-FA34-72FC-B3EC3FB08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5EBD44-3E48-8532-D2C2-133CBEC766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704110"/>
            <a:ext cx="6251713" cy="2129002"/>
          </a:xfrm>
        </p:spPr>
        <p:txBody>
          <a:bodyPr>
            <a:normAutofit fontScale="90000"/>
          </a:bodyPr>
          <a:lstStyle/>
          <a:p>
            <a:r>
              <a:rPr lang="de-DE" sz="54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Thank</a:t>
            </a:r>
            <a:r>
              <a:rPr lang="de-DE" sz="5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sz="54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You</a:t>
            </a:r>
            <a:r>
              <a:rPr lang="de-DE" sz="5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sz="54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for</a:t>
            </a:r>
            <a:r>
              <a:rPr lang="de-DE" sz="5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sz="54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your</a:t>
            </a:r>
            <a:r>
              <a:rPr lang="de-DE" sz="5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Evaluation</a:t>
            </a:r>
            <a:br>
              <a:rPr lang="de-DE" sz="5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endParaRPr lang="de-DE" sz="54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3239E9B4-D51B-D6AE-31DF-5621A8F883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1649" y="-400449"/>
            <a:ext cx="3921632" cy="2614421"/>
          </a:xfrm>
          <a:prstGeom prst="rect">
            <a:avLst/>
          </a:prstGeom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A7A17B67-21C4-1182-9ACA-4895BECAA5F1}"/>
              </a:ext>
            </a:extLst>
          </p:cNvPr>
          <p:cNvSpPr txBox="1">
            <a:spLocks/>
          </p:cNvSpPr>
          <p:nvPr/>
        </p:nvSpPr>
        <p:spPr>
          <a:xfrm>
            <a:off x="0" y="3801938"/>
            <a:ext cx="6251713" cy="70658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4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Helped</a:t>
            </a:r>
            <a:r>
              <a:rPr lang="de-DE" sz="4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sz="44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us</a:t>
            </a:r>
            <a:r>
              <a:rPr lang="de-DE" sz="4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 </a:t>
            </a:r>
            <a:r>
              <a:rPr lang="de-DE" sz="44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lot</a:t>
            </a:r>
            <a:endParaRPr lang="de-DE" sz="44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68346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1028</Words>
  <Application>Microsoft Macintosh PowerPoint</Application>
  <PresentationFormat>Breitbild</PresentationFormat>
  <Paragraphs>165</Paragraphs>
  <Slides>22</Slides>
  <Notes>22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Helvetica Neue</vt:lpstr>
      <vt:lpstr>Office</vt:lpstr>
      <vt:lpstr>Printforge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Thank You for your Evaluation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Weigl</dc:creator>
  <cp:lastModifiedBy>Thomas Weigl</cp:lastModifiedBy>
  <cp:revision>16</cp:revision>
  <dcterms:created xsi:type="dcterms:W3CDTF">2026-04-30T10:41:42Z</dcterms:created>
  <dcterms:modified xsi:type="dcterms:W3CDTF">2026-06-20T17:38:06Z</dcterms:modified>
</cp:coreProperties>
</file>