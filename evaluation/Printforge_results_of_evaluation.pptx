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7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8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11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12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5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6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9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20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5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23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24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27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8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notesSlides/notesSlide19.xml" ContentType="application/vnd.openxmlformats-officedocument.presentationml.notes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31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32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notesSlides/notesSlide20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3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3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4"/>
  </p:notesMasterIdLst>
  <p:sldIdLst>
    <p:sldId id="256" r:id="rId2"/>
    <p:sldId id="301" r:id="rId3"/>
    <p:sldId id="296" r:id="rId4"/>
    <p:sldId id="260" r:id="rId5"/>
    <p:sldId id="286" r:id="rId6"/>
    <p:sldId id="302" r:id="rId7"/>
    <p:sldId id="299" r:id="rId8"/>
    <p:sldId id="287" r:id="rId9"/>
    <p:sldId id="288" r:id="rId10"/>
    <p:sldId id="289" r:id="rId11"/>
    <p:sldId id="304" r:id="rId12"/>
    <p:sldId id="303" r:id="rId13"/>
    <p:sldId id="297" r:id="rId14"/>
    <p:sldId id="290" r:id="rId15"/>
    <p:sldId id="291" r:id="rId16"/>
    <p:sldId id="305" r:id="rId17"/>
    <p:sldId id="298" r:id="rId18"/>
    <p:sldId id="292" r:id="rId19"/>
    <p:sldId id="294" r:id="rId20"/>
    <p:sldId id="295" r:id="rId21"/>
    <p:sldId id="293" r:id="rId22"/>
    <p:sldId id="285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A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06"/>
    <p:restoredTop sz="94637"/>
  </p:normalViewPr>
  <p:slideViewPr>
    <p:cSldViewPr snapToGrid="0">
      <p:cViewPr varScale="1">
        <p:scale>
          <a:sx n="149" d="100"/>
          <a:sy n="149" d="100"/>
        </p:scale>
        <p:origin x="4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oleObject" Target="file:////Users/thomasweigl/Downloads/Printforge_Evaluation_Saeulendiagramme_Final.xlsx" TargetMode="Externa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thomasweigl/Downloads/Printforge_Evaluation_Saeulendiagramme_Final.xlsx" TargetMode="External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straightforward was it to add the two items, adjust quantities, and remove items?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'Diagramm-Daten'!$I$8:$M$8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397-D34B-8925-E1CCB15937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61503"/>
        <c:axId val="1304738239"/>
      </c:barChart>
      <c:catAx>
        <c:axId val="1304661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738239"/>
        <c:crosses val="autoZero"/>
        <c:auto val="1"/>
        <c:lblAlgn val="ctr"/>
        <c:lblOffset val="100"/>
        <c:noMultiLvlLbl val="0"/>
      </c:catAx>
      <c:valAx>
        <c:axId val="1304738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615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and intuitive was it to increment or decrement item quantities?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'Diagramm-Daten'!$I$14:$M$14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1C-8F4D-A014-528B2DCC2A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3632447"/>
        <c:axId val="1513623487"/>
      </c:barChart>
      <c:catAx>
        <c:axId val="15136324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23487"/>
        <c:crosses val="autoZero"/>
        <c:auto val="1"/>
        <c:lblAlgn val="ctr"/>
        <c:lblOffset val="100"/>
        <c:noMultiLvlLbl val="0"/>
      </c:catAx>
      <c:valAx>
        <c:axId val="1513623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2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How easy was it to locate and access your shopping cart from different pages?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'Diagramm-Daten'!$I$12:$M$12</c:f>
              <c:numCache>
                <c:formatCode>0</c:formatCode>
                <c:ptCount val="5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89-8B4C-A40B-130326476A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135359"/>
        <c:axId val="900128639"/>
      </c:barChart>
      <c:catAx>
        <c:axId val="900135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28639"/>
        <c:crosses val="autoZero"/>
        <c:auto val="1"/>
        <c:lblAlgn val="ctr"/>
        <c:lblOffset val="100"/>
        <c:noMultiLvlLbl val="0"/>
      </c:catAx>
      <c:valAx>
        <c:axId val="900128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353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If you removed the wrong item, did it feel easy to undo or recover?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'Diagramm-Daten'!$I$15:$M$15</c:f>
              <c:numCache>
                <c:formatCode>0</c:formatCode>
                <c:ptCount val="5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59D-5B4F-898E-8DE98AAE6E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80395519"/>
        <c:axId val="1513634239"/>
      </c:barChart>
      <c:catAx>
        <c:axId val="1080395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4239"/>
        <c:crosses val="autoZero"/>
        <c:auto val="1"/>
        <c:lblAlgn val="ctr"/>
        <c:lblOffset val="100"/>
        <c:noMultiLvlLbl val="0"/>
      </c:catAx>
      <c:valAx>
        <c:axId val="1513634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803955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58641"/>
      </a:schemeClr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2000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If you removed the wrong item, did it feel easy to undo or recover?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'Diagramm-Daten'!$I$15:$M$15</c:f>
              <c:numCache>
                <c:formatCode>0</c:formatCode>
                <c:ptCount val="5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DD-F140-9696-7643F571FD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80395519"/>
        <c:axId val="1513634239"/>
      </c:barChart>
      <c:catAx>
        <c:axId val="1080395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34239"/>
        <c:crosses val="autoZero"/>
        <c:auto val="1"/>
        <c:lblAlgn val="ctr"/>
        <c:lblOffset val="100"/>
        <c:noMultiLvlLbl val="0"/>
      </c:catAx>
      <c:valAx>
        <c:axId val="1513634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0803955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 How easy was it to locate and access your shopping cart from different pages?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'Diagramm-Daten'!$I$12:$M$12</c:f>
              <c:numCache>
                <c:formatCode>0</c:formatCode>
                <c:ptCount val="5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47-8D4F-993F-61AB91FD64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135359"/>
        <c:axId val="900128639"/>
      </c:barChart>
      <c:catAx>
        <c:axId val="9001353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28639"/>
        <c:crosses val="autoZero"/>
        <c:auto val="1"/>
        <c:lblAlgn val="ctr"/>
        <c:lblOffset val="100"/>
        <c:noMultiLvlLbl val="0"/>
      </c:catAx>
      <c:valAx>
        <c:axId val="900128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1353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locate the Sign-In screen and complete the login process?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'Diagramm-Daten'!$I$18:$M$18</c:f>
              <c:numCache>
                <c:formatCode>0</c:formatCode>
                <c:ptCount val="5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6B2-FD44-BAF8-4A81241EAF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441727"/>
        <c:axId val="900443519"/>
      </c:barChart>
      <c:catAx>
        <c:axId val="900441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3519"/>
        <c:crosses val="autoZero"/>
        <c:auto val="1"/>
        <c:lblAlgn val="ctr"/>
        <c:lblOffset val="100"/>
        <c:noMultiLvlLbl val="0"/>
      </c:catAx>
      <c:valAx>
        <c:axId val="900443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1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intuitive did you find the process of reviewing and confirming your user information?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'Diagramm-Daten'!$I$26:$M$26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5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5F-6C45-8552-3F3CFF9B00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3702527"/>
        <c:axId val="893710143"/>
      </c:barChart>
      <c:catAx>
        <c:axId val="8937025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10143"/>
        <c:crosses val="autoZero"/>
        <c:auto val="1"/>
        <c:lblAlgn val="ctr"/>
        <c:lblOffset val="100"/>
        <c:noMultiLvlLbl val="0"/>
      </c:catAx>
      <c:valAx>
        <c:axId val="8937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025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58641"/>
      </a:schemeClr>
    </a:solidFill>
    <a:ln w="9525" cap="flat" cmpd="sng" algn="ctr">
      <a:solidFill>
        <a:schemeClr val="tx1">
          <a:lumMod val="15000"/>
          <a:lumOff val="85000"/>
        </a:schemeClr>
      </a:solidFill>
      <a:prstDash val="solid"/>
      <a:round/>
    </a:ln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were</a:t>
            </a:r>
            <a:r>
              <a:rPr lang="de-DE" dirty="0"/>
              <a:t> </a:t>
            </a:r>
            <a:r>
              <a:rPr lang="de-DE" dirty="0" err="1"/>
              <a:t>looking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“</a:t>
            </a:r>
            <a:r>
              <a:rPr lang="de-DE" dirty="0" err="1"/>
              <a:t>Blueprints</a:t>
            </a:r>
            <a:r>
              <a:rPr lang="de-DE" dirty="0"/>
              <a:t>” </a:t>
            </a:r>
            <a:r>
              <a:rPr lang="de-DE" dirty="0" err="1"/>
              <a:t>again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confident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find </a:t>
            </a:r>
            <a:r>
              <a:rPr lang="de-DE" dirty="0" err="1"/>
              <a:t>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CC-B742-9721-30F62508FC5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2000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locate the Sign-In screen and complete the login process?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'Diagramm-Daten'!$I$18:$M$18</c:f>
              <c:numCache>
                <c:formatCode>0</c:formatCode>
                <c:ptCount val="5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3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5A-4C46-830E-DFA39263AB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0441727"/>
        <c:axId val="900443519"/>
      </c:barChart>
      <c:catAx>
        <c:axId val="900441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3519"/>
        <c:crosses val="autoZero"/>
        <c:auto val="1"/>
        <c:lblAlgn val="ctr"/>
        <c:lblOffset val="100"/>
        <c:noMultiLvlLbl val="0"/>
      </c:catAx>
      <c:valAx>
        <c:axId val="900443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0441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intuitive did you find the process of reviewing and confirming your user information?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'Diagramm-Daten'!$I$26:$M$26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5</c:v>
                </c:pt>
                <c:pt idx="4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F6-9646-AA31-7C5400769C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3702527"/>
        <c:axId val="893710143"/>
      </c:barChart>
      <c:catAx>
        <c:axId val="8937025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10143"/>
        <c:crosses val="autoZero"/>
        <c:auto val="1"/>
        <c:lblAlgn val="ctr"/>
        <c:lblOffset val="100"/>
        <c:noMultiLvlLbl val="0"/>
      </c:catAx>
      <c:valAx>
        <c:axId val="8937101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37025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font size and readability?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'Diagramm-Daten'!$I$28:$M$28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5</c:v>
                </c:pt>
                <c:pt idx="4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2A-2E49-869C-7E872C7AC2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3616063"/>
        <c:axId val="1513616511"/>
      </c:barChart>
      <c:catAx>
        <c:axId val="1513616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16511"/>
        <c:crosses val="autoZero"/>
        <c:auto val="1"/>
        <c:lblAlgn val="ctr"/>
        <c:lblOffset val="100"/>
        <c:noMultiLvlLbl val="0"/>
      </c:catAx>
      <c:valAx>
        <c:axId val="15136165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361606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the color scheme and contrast?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'Diagramm-Daten'!$I$29:$M$29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5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CB-C949-B87D-88A2D3D62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1603199"/>
        <c:axId val="901607679"/>
      </c:barChart>
      <c:catAx>
        <c:axId val="901603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1607679"/>
        <c:crosses val="autoZero"/>
        <c:auto val="1"/>
        <c:lblAlgn val="ctr"/>
        <c:lblOffset val="100"/>
        <c:noMultiLvlLbl val="0"/>
      </c:catAx>
      <c:valAx>
        <c:axId val="90160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901603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solidFill>
        <a:schemeClr val="tx1">
          <a:lumMod val="15000"/>
          <a:lumOff val="85000"/>
        </a:schemeClr>
      </a:solidFill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consistent did the UI feel across pages (buttons, spacing, headings, patterns)?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'Diagramm-Daten'!$I$30:$M$30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2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A5-3F45-8FFF-10166EB76C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14119039"/>
        <c:axId val="1514111871"/>
      </c:barChart>
      <c:catAx>
        <c:axId val="15141190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4111871"/>
        <c:crosses val="autoZero"/>
        <c:auto val="1"/>
        <c:lblAlgn val="ctr"/>
        <c:lblOffset val="100"/>
        <c:noMultiLvlLbl val="0"/>
      </c:catAx>
      <c:valAx>
        <c:axId val="15141118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5141190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Did the site feel fast and responsive?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'Diagramm-Daten'!$I$31:$M$31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9B-1046-9DD6-79CEC36F1F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895308159"/>
        <c:axId val="895316671"/>
      </c:barChart>
      <c:catAx>
        <c:axId val="89530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316671"/>
        <c:crosses val="autoZero"/>
        <c:auto val="1"/>
        <c:lblAlgn val="ctr"/>
        <c:lblOffset val="100"/>
        <c:noMultiLvlLbl val="0"/>
      </c:catAx>
      <c:valAx>
        <c:axId val="8953166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30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easy was it to complete this flow?</a:t>
            </a:r>
          </a:p>
        </c:rich>
      </c:tx>
      <c:overlay val="0"/>
      <c:spPr>
        <a:noFill/>
        <a:ln>
          <a:noFill/>
          <a:prstDash val="solid"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  <a:prstDash val="solid"/>
            </a:ln>
          </c:spPr>
          <c:invertIfNegative val="0"/>
          <c:val>
            <c:numRef>
              <c:f>'Diagramm-Daten'!$I$2:$M$2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2-2349-99CC-282544B9A6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90451263"/>
        <c:axId val="1332906623"/>
      </c:barChart>
      <c:catAx>
        <c:axId val="13904512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32906623"/>
        <c:crosses val="autoZero"/>
        <c:auto val="1"/>
        <c:lblAlgn val="ctr"/>
        <c:lblOffset val="100"/>
        <c:noMultiLvlLbl val="0"/>
      </c:catAx>
      <c:valAx>
        <c:axId val="133290662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  <a:prstDash val="solid"/>
          </a:ln>
        </c:spPr>
        <c:txPr>
          <a:bodyPr rot="-60000000" spcFirstLastPara="1" vertOverflow="ellipsis" vert="horz" wrap="square" anchor="ctr" anchorCtr="1"/>
          <a:lstStyle/>
          <a:p>
            <a:pPr>
              <a:defRPr sz="900" b="0" i="0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90451263"/>
        <c:crosses val="autoZero"/>
        <c:crossBetween val="between"/>
      </c:valAx>
    </c:plotArea>
    <c:plotVisOnly val="1"/>
    <c:dispBlanksAs val="gap"/>
    <c:showDLblsOverMax val="1"/>
  </c:chart>
  <c:spPr>
    <a:solidFill>
      <a:schemeClr val="bg1">
        <a:alpha val="33000"/>
      </a:schemeClr>
    </a:solidFill>
    <a:ln w="9525" cap="flat" cmpd="sng" algn="ctr">
      <a:solidFill>
        <a:schemeClr val="tx1">
          <a:lumMod val="15000"/>
          <a:lumOff val="85000"/>
          <a:alpha val="0"/>
        </a:schemeClr>
      </a:solidFill>
      <a:prstDash val="solid"/>
      <a:round/>
    </a:ln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If you were looking for “Blueprints” again later, how confident are you that you could find it quickly?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'Diagramm-Daten'!$I$6:$M$6</c:f>
              <c:numCache>
                <c:formatCode>0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  <c:pt idx="4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389-934D-A2AB-D53BC33F4F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4672703"/>
        <c:axId val="1304670015"/>
      </c:barChart>
      <c:catAx>
        <c:axId val="1304672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0015"/>
        <c:crosses val="autoZero"/>
        <c:auto val="1"/>
        <c:lblAlgn val="ctr"/>
        <c:lblOffset val="100"/>
        <c:noMultiLvlLbl val="0"/>
      </c:catAx>
      <c:valAx>
        <c:axId val="130467001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04672703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</c:chart>
  <c:spPr>
    <a:solidFill>
      <a:schemeClr val="bg1">
        <a:alpha val="67638"/>
      </a:schemeClr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/>
              <a:t>How </a:t>
            </a:r>
            <a:r>
              <a:rPr lang="de-DE" dirty="0" err="1"/>
              <a:t>accessible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interface </a:t>
            </a:r>
            <a:r>
              <a:rPr lang="de-DE" dirty="0" err="1"/>
              <a:t>feel</a:t>
            </a:r>
            <a:r>
              <a:rPr lang="de-DE" dirty="0"/>
              <a:t>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'Diagramm-Daten'!$I$32:$M$32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79-6148-90CF-FD4DCB544F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8528255"/>
        <c:axId val="895848831"/>
      </c:barChart>
      <c:catAx>
        <c:axId val="12985282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895848831"/>
        <c:crosses val="autoZero"/>
        <c:auto val="1"/>
        <c:lblAlgn val="ctr"/>
        <c:lblOffset val="100"/>
        <c:noMultiLvlLbl val="0"/>
      </c:catAx>
      <c:valAx>
        <c:axId val="8958488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29852825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How would you rate the website overall?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tx1"/>
            </a:solidFill>
            <a:ln>
              <a:noFill/>
            </a:ln>
            <a:effectLst/>
          </c:spPr>
          <c:invertIfNegative val="0"/>
          <c:val>
            <c:numRef>
              <c:f>'Diagramm-Daten'!$I$33:$M$33</c:f>
              <c:numCache>
                <c:formatCode>0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64-8F4D-B73D-D86DF67494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62465023"/>
        <c:axId val="662468159"/>
      </c:barChart>
      <c:catAx>
        <c:axId val="66246502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2468159"/>
        <c:crosses val="autoZero"/>
        <c:auto val="1"/>
        <c:lblAlgn val="ctr"/>
        <c:lblOffset val="100"/>
        <c:noMultiLvlLbl val="0"/>
      </c:catAx>
      <c:valAx>
        <c:axId val="662468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2465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4B9C1A-6DEC-7040-A2CD-0BFFEFD636EC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0579C-6C65-EB42-805A-DE57889045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7762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4651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41EE6-241A-2E55-8D7E-CC7AFF286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941406-4664-D7E6-A692-494F77581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FB2B0DE-3BEF-1BA8-3FA2-C894E6896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A9B8D0-E3F9-6251-4781-E0F2FECE89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8727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E7AB9-6E7E-DD5D-D0CA-27559BF8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3FAB0F0-7CD4-F2DB-9518-DD0912F1E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8FDBE68-E85C-3C0D-CCC5-A33BE9D23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2F54E-8393-275A-4978-0A36467FF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813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CB87-8BD6-1104-D32F-4DF571AB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49C54CF-6520-38CA-9D60-527C71B68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5E884A7-C5FA-8DC8-2F68-C89469C58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A23136-5A04-5AD1-6DCF-1E5E51EAE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978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81AE4-95F7-3A85-5089-43FB7546F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EC671B8-7903-208D-F463-71F61A30F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6310150-85AD-850E-22B2-626D748F7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6C9F1-84FA-1FF3-7D3C-23AAC1D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20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A0FA4-4851-6794-9445-A092B23C4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6831D66-B8F4-A2FD-42D5-3E214BE826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06EEA44-A493-9023-8056-78B20000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3D9EBB-7200-52D0-4AC3-C59873E0F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2969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67A11-95D6-CD9D-7683-56752EEC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B83CC1E-1691-61B5-80FC-DED2747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1E16246-BCD6-3C96-A3F0-2C8098E49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305170-C922-D949-5296-D4BA77F969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7713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0A06D-988A-008E-B078-C7E67A2A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501EA5-5B0E-9CCB-8D10-05D7F53A41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1E15A1F-DA08-D2E2-F125-4CE437000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620D84-A01D-903B-4C64-18A6CD6B83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656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55C8F-2C1A-80BD-190B-E7E5CB802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35B6D18-67E0-42E8-7AAA-3EFFBAE0C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20EC9ED-BF59-718C-ABD3-6502B224D0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34B6EC1-DBD3-F321-6B76-FAEAEC463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091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7FA25-A295-4675-2EA4-06E9CFC31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7042C67-0503-3907-C8F9-B77EB1556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79F9E1-B8EB-323D-C754-8CA8676537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5D20A-CFD0-AE42-E1ED-F963584DA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4542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BD913-D4E7-6E7D-C163-C9C99656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7D9C0D9-4FC2-E4F6-D892-D94F9F69C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B1CC26D-C6C4-5137-765A-22E20DC91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FC48BA-B594-14E5-E128-639B026569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6526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3F65F-1208-B5A5-65A5-291331535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10ADC91-1A76-3601-34C2-382426949D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269B31A-A804-E15D-AA0B-6D36FF4D5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6B6E9D-6C33-00D4-33DE-BB8AEF23B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098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4A9C2-80BB-AFAD-FC5F-2C094CF8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FD030F-5B8E-9B17-D188-9108A70B6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077F8AF-8288-E443-576E-B5AB50152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654532-D2E1-1421-AF2D-31B876DB4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990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3E90-0119-A749-6CEB-071C851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90A63B0-DA48-1C1E-F04B-E9F28B7C2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EB21361-BBEA-5351-D070-3ABC13EA7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AB8FE8-8A2A-F6A6-3F78-2DE70BFB1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11812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5F44C-21F8-1A8E-60D0-12EC0807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FE8A022-1214-6E5D-5442-4A5936E7C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477A0CF-5FDF-CA24-F974-DCC18B6A5C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6042AE-4C36-5DF5-2D2E-6C980BE9F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1696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5CAFC-3907-027E-D32C-1CFF2730F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C46197-9355-6B0A-2177-03F3722EEC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A787E6-E348-6434-17AE-5888A6B0F5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C97BC1-6195-690F-84B8-7B79805F65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05145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5471-004E-2314-7056-D49A326FF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A32B401-B5BB-C079-4E38-BB9408621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B70DF8C-D018-CC62-1A90-5BCD3F16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53CC60-AF9D-D912-A17D-DEB8E9A8CC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23197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3360D-8AC1-2A66-EFED-607B6B89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5EC9837-C787-79E6-3FBA-237BADED31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53025A-E64F-40BB-060D-F8B5EBBA2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20BDDC-21F2-8DF1-B423-5654BA1FEB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539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E142-760F-8C50-ECCD-C6F28D083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3FA86F3-95AB-C18A-E5A2-6D0D0DF80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3D4981E-6974-69EF-6076-706A59D9EF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66622-B4B7-AF31-428A-0A9B071A2C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94640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4C78A-9F1E-DFDC-4F23-4E6371A63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B33467-5238-A616-D9AB-C1FBEF2BE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B806F0C-C7F5-A62E-9C2D-83E63868A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7E5259-D7BE-84F3-C2A6-E5D6EBAB86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82114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10127-5EB3-DC39-E1CF-222D9D0BA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7A0EF5B-70E5-3DCA-82E3-466B72FBF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E9051BE-9E71-083D-2C95-1A8C401C0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8930E4-CD20-961F-83C0-F73CE3A52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02855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973B2-6756-8192-6EA3-2E866846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165EFBF-806B-D888-9221-DA34A51D0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62F35F-D4F1-ACE8-A4F2-C6BD803F0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E6B22-249D-95ED-212E-A26F5C526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A0579C-6C65-EB42-805A-DE578890455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75347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4CCF20-806D-5C16-30EB-2F9B29DB5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0C6059F-F706-060F-6121-AD470C5BD7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88A8F7-184D-7E0B-698A-559BA3144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5C6EB3-C195-304C-2C81-C1AF86C4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CFA8C7-FBB9-5197-CC75-0324F8BD8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467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82ADD7-7887-58CC-1992-2715C024A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1C51A4-A7DE-0624-DB39-477518D09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258543-C3C4-2ED4-3391-47C8FF071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3C7B0B-94A8-455D-5CF8-E9B54EEFB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9B302-FA31-7FCB-69BE-A787FF91E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345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C4695-F977-42E5-30BC-8F07C47C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3A1319-C4DA-70B9-F2B3-32077BD34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307EBF-40B7-2C2B-3266-F796154C2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B27083-892C-4FC0-593C-421CF4BDC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CB1BAE-E80E-1E28-433E-6FE8FDCB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3312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7E2E01-621B-5E29-A975-5C68739B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718A5-3B44-1071-E059-9A87747CC6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F938A22-8008-3695-1BD7-E6FE9F3A7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2C020A-D913-D5C2-0974-6F95AF633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3C3DDE-C1A7-139B-F511-87F51D214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BC5434-980D-7A6D-D03C-40DCFEB8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803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5DFA8-3E9B-D081-1060-686F44A22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F8E161-9E1A-C516-53EF-34792035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E5C943B-00BD-14F5-BA4C-4B191FA62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87E237-B29F-2383-507C-C18F388146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9FCD1A-7828-BFB8-DE5F-D0655A11A0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B371AEF-3C82-7E4B-96C5-4FCC0FD11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EA3483E-684B-5BCF-CE98-2C1A19E29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0122D73-6C50-A0DA-ACB0-116ADD0E5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597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E312-59C9-C1DC-02EE-BFB9473C2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6462141-52ED-699E-883A-208AD34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9FF0FC-379E-88F2-87E3-C7AB136E9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03A716-A3F7-7B6E-D741-FE6639AE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7887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F230E6-2AE7-0F29-B5C6-E729D370B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98B3FC-BC3F-CFB6-341C-ED8B58A49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64095F-1B5D-6D26-512E-11F7270D7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4789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0BF29-D609-E674-73D3-851A46A3F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583A87-9C14-DA89-68C4-5BF3476EF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2F6B8F-B66B-0137-47E7-6BA485039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862905-79F4-9CC9-6790-BB28670ED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756EDE-41A4-A8D1-CAFA-E74AF0C0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6EF20E-94AF-DFF0-DB4C-B4635CB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415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DF3A29-29A4-B490-3256-5AAB97D41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EFF4E54-D6A8-CAEF-D516-149EEC9112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07135DD-1B6E-0BB4-CEEB-543C708CF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C738D0-2378-C34A-F775-A9C19BD2F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669439-F9DE-18D2-D655-DFBEF6636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117F60-DFB4-B44D-834B-2558DCDC9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716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0ECD7D-3BB9-33FF-E057-BC1F8F2F0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B8AA109-FE43-DC69-AFFA-C78555F3C4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F9A564-9FD9-E235-9100-D4245F8E8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E40CF8-1498-CFD8-F319-5E4907ACE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BB3B61-7944-D6BB-7AC2-874C6CE65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60456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6A7A136-1E67-1D0B-85A1-DD787B62C8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271FB05-8BAB-6115-8C4B-F282E20E3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1E803-586A-1EB4-FCED-E87953A41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394F23-C086-A17A-CC5C-FB3D06810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8B623-EAD0-6285-B8F6-90813168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0197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AF79DB3-8ED6-9B2E-2C1A-02D408A49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93B1BE-EEAA-C057-CF50-AEBB2C05C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AAC61B-3F5C-80BE-295A-59F7101D4D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E4035-68A4-2741-8686-A9C99360A150}" type="datetimeFigureOut">
              <a:rPr lang="de-DE" smtClean="0"/>
              <a:t>21.06.26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B0C2A5-3B36-13BF-25D8-C8A0BBB7A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AB07E5-0C5A-BB3C-E515-BB23ABA59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15F3A-E224-C44D-998B-D90BEA9C07C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16070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7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chart" Target="../charts/chart1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1.xml"/><Relationship Id="rId5" Type="http://schemas.openxmlformats.org/officeDocument/2006/relationships/chart" Target="../charts/chart10.xml"/><Relationship Id="rId4" Type="http://schemas.openxmlformats.org/officeDocument/2006/relationships/chart" Target="../charts/char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chart" Target="../charts/chart1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5.xml"/><Relationship Id="rId5" Type="http://schemas.openxmlformats.org/officeDocument/2006/relationships/chart" Target="../charts/chart14.xml"/><Relationship Id="rId4" Type="http://schemas.openxmlformats.org/officeDocument/2006/relationships/chart" Target="../charts/chart13.xml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2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9.xml"/><Relationship Id="rId5" Type="http://schemas.openxmlformats.org/officeDocument/2006/relationships/chart" Target="../charts/chart18.xml"/><Relationship Id="rId4" Type="http://schemas.openxmlformats.org/officeDocument/2006/relationships/chart" Target="../charts/chart1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chart" Target="../charts/chart2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3.xml"/><Relationship Id="rId5" Type="http://schemas.openxmlformats.org/officeDocument/2006/relationships/chart" Target="../charts/chart22.xml"/><Relationship Id="rId4" Type="http://schemas.openxmlformats.org/officeDocument/2006/relationships/chart" Target="../charts/chart2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chart" Target="../charts/chart28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27.xml"/><Relationship Id="rId5" Type="http://schemas.openxmlformats.org/officeDocument/2006/relationships/chart" Target="../charts/chart26.xml"/><Relationship Id="rId4" Type="http://schemas.openxmlformats.org/officeDocument/2006/relationships/chart" Target="../charts/chart2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chart" Target="../charts/chart32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chart" Target="../charts/chart3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5.xml"/><Relationship Id="rId5" Type="http://schemas.openxmlformats.org/officeDocument/2006/relationships/chart" Target="../charts/chart34.xml"/><Relationship Id="rId4" Type="http://schemas.openxmlformats.org/officeDocument/2006/relationships/chart" Target="../charts/chart3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46630-64FA-8AEE-FB6F-892F0E465A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89019" y="2463281"/>
            <a:ext cx="9144000" cy="1091535"/>
          </a:xfrm>
        </p:spPr>
        <p:txBody>
          <a:bodyPr>
            <a:normAutofit/>
          </a:bodyPr>
          <a:lstStyle/>
          <a:p>
            <a:r>
              <a:rPr lang="de-DE" sz="66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Printforge</a:t>
            </a:r>
            <a:endParaRPr lang="de-DE" sz="66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5C58AC6-AE6C-7AB1-5E69-CB2A3E6C0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8904" y="3554816"/>
            <a:ext cx="5108154" cy="1655762"/>
          </a:xfrm>
        </p:spPr>
        <p:txBody>
          <a:bodyPr>
            <a:normAutofit/>
          </a:bodyPr>
          <a:lstStyle/>
          <a:p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Shape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Future </a:t>
            </a:r>
            <a:r>
              <a:rPr lang="de-DE" sz="2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2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Making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BDE72B4-DCE6-90A3-357E-F3011976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8091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15CDD8-23F5-B428-B2BE-77EE21D27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2E57F6AD-A7DB-77C0-19E7-041A4AA7A862}"/>
              </a:ext>
            </a:extLst>
          </p:cNvPr>
          <p:cNvSpPr/>
          <p:nvPr/>
        </p:nvSpPr>
        <p:spPr>
          <a:xfrm flipH="1">
            <a:off x="12209526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C717399-B3DE-FD83-1B09-24FDEC05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4770D9D8-3AEF-2D1C-E338-FCAD3F6CC4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29377AB-7EC6-3487-CED6-386E1F64C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6426" y="698409"/>
            <a:ext cx="8959148" cy="579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00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2E93AD-7414-7A34-F047-155EF14B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C96FB5-7DD8-A724-2C4D-36AC9FEE88A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DEC76B1C-4089-D623-0886-FABD424A8808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A94D3AB-8A44-D6C8-1EB7-8674E8AA1725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EA4D1B-5CAE-5BAE-4119-B47655BED7AC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230DE4-1041-CA21-32E2-49EC5C160E9E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684E0B6-5755-8AF7-17E6-6479EB334A01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A1276EA-AD5A-8DAD-F180-A61F5AF7FE62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D667173-CEEF-DD75-82D6-C69CCDA82025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7286B63-E0A0-1D1B-6254-D090E024AEEC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5E063EE-E58A-5550-A0C3-C7EDF557D548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BA6B596-FE28-7A65-BCAC-CE84E127B7A9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6140053-A056-8C07-62F3-FAD96BAA9452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9630B23-A68E-4196-D767-4BA11BED8CC8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160B54C9-3650-E253-3669-DFB6AE7CFEC2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160B54C9-3650-E253-3669-DFB6AE7CFE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B1DAA352-66BF-01A4-296A-BDBB14AAC0B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B1DAA352-66BF-01A4-296A-BDBB14AAC0B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9D9CCECB-A957-A06A-E701-07CDBC25C98C}"/>
              </a:ext>
            </a:extLst>
          </p:cNvPr>
          <p:cNvSpPr/>
          <p:nvPr/>
        </p:nvSpPr>
        <p:spPr>
          <a:xfrm>
            <a:off x="1891284" y="2799205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736CA0D2-E2C7-EBB5-FF0C-9700615959B5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736CA0D2-E2C7-EBB5-FF0C-9700615959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793CF7C-FFCF-45D4-0297-50C79A371A21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793CF7C-FFCF-45D4-0297-50C79A371A2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0B6310D2-6175-EA56-BDF9-B34E017A5EE2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5C8A343E-76E1-8EE9-5AD1-53137D272F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48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64510-4CC0-0BB8-906D-B2759825B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373E3BB2-9DBB-39DE-E089-4BA24F8613F2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CE6EFF4-1AF7-0F0B-7AFD-9AA693E31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C1422B4-93B0-7F3C-D217-2DB1000E2AA2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3B868E4-1655-4AC2-6779-74215E0DC5E0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1: Navigation Discovery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A810F0B6-9FBC-2CF5-746F-16F6F58A99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01704551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7CDC8099-498B-E51F-9D97-E04C540AA8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5192330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896563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D5725-BDDB-1536-F9FF-002D3E0AA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BEF4CF98-D5C4-DDBC-A1A6-A106627DF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188D82D-B4A1-9BFB-D4F8-8C8D7D2A86AB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4F12260-B2B1-9913-B35E-BF9D96B321AC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1: Navigation Discovery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5671C4-EBE1-ABE9-3707-EF2FC8E5CD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045CC359-B638-6CFC-3938-E636BCB090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1500634"/>
              </p:ext>
            </p:extLst>
          </p:nvPr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BAE35DC3-A3BD-6552-E2EC-5D8693607482}"/>
              </a:ext>
            </a:extLst>
          </p:cNvPr>
          <p:cNvSpPr txBox="1"/>
          <p:nvPr/>
        </p:nvSpPr>
        <p:spPr>
          <a:xfrm>
            <a:off x="993668" y="2782883"/>
            <a:ext cx="1033648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24s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3s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120s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would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you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change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about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the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navigation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options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remain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permanently</a:t>
            </a:r>
            <a:r>
              <a:rPr lang="de-DE" dirty="0">
                <a:solidFill>
                  <a:schemeClr val="bg1"/>
                </a:solidFill>
              </a:rPr>
              <a:t> visible </a:t>
            </a:r>
            <a:r>
              <a:rPr lang="de-DE" dirty="0" err="1">
                <a:solidFill>
                  <a:schemeClr val="bg1"/>
                </a:solidFill>
              </a:rPr>
              <a:t>without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requiring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opened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While </a:t>
            </a:r>
            <a:r>
              <a:rPr lang="de-DE" dirty="0" err="1">
                <a:solidFill>
                  <a:schemeClr val="bg1"/>
                </a:solidFill>
              </a:rPr>
              <a:t>navigating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from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Ready-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-Buy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Filaments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page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correctly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switched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Filaments, but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highlighted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Blueprints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instead</a:t>
            </a:r>
            <a:r>
              <a:rPr lang="de-DE" dirty="0">
                <a:solidFill>
                  <a:schemeClr val="bg1"/>
                </a:solidFill>
              </a:rPr>
              <a:t>.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website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does</a:t>
            </a:r>
            <a:r>
              <a:rPr lang="de-DE" dirty="0">
                <a:solidFill>
                  <a:schemeClr val="bg1"/>
                </a:solidFill>
              </a:rPr>
              <a:t> not </a:t>
            </a:r>
            <a:r>
              <a:rPr lang="de-DE" dirty="0" err="1">
                <a:solidFill>
                  <a:schemeClr val="bg1"/>
                </a:solidFill>
              </a:rPr>
              <a:t>clearly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indicate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additional </a:t>
            </a:r>
            <a:r>
              <a:rPr lang="de-DE" dirty="0" err="1">
                <a:solidFill>
                  <a:schemeClr val="bg1"/>
                </a:solidFill>
              </a:rPr>
              <a:t>content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scrolling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1AE7535F-7C4D-2ED3-9E7F-D79C14A465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77354857"/>
              </p:ext>
            </p:extLst>
          </p:nvPr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2643FF00-70A4-D009-33C0-27E1AC02750B}"/>
              </a:ext>
            </a:extLst>
          </p:cNvPr>
          <p:cNvSpPr/>
          <p:nvPr/>
        </p:nvSpPr>
        <p:spPr>
          <a:xfrm flipH="1">
            <a:off x="1219747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4089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9F547-0562-084D-5582-E1AF5690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A817052E-60AD-0CAB-614F-D8AB6880DD13}"/>
              </a:ext>
            </a:extLst>
          </p:cNvPr>
          <p:cNvSpPr/>
          <p:nvPr/>
        </p:nvSpPr>
        <p:spPr>
          <a:xfrm flipH="1">
            <a:off x="1220038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5191E673-A782-8B4D-F70E-9BE70400C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1B32B9D-1D8B-92B8-B3DE-C42E9B519C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7FFC3E5-08BF-DA07-DF01-32E89B44A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94" y="921442"/>
            <a:ext cx="8443012" cy="5461070"/>
          </a:xfrm>
          <a:prstGeom prst="rect">
            <a:avLst/>
          </a:prstGeom>
        </p:spPr>
      </p:pic>
      <p:sp>
        <p:nvSpPr>
          <p:cNvPr id="9" name="Pfeil nach unten 8">
            <a:extLst>
              <a:ext uri="{FF2B5EF4-FFF2-40B4-BE49-F238E27FC236}">
                <a16:creationId xmlns:a16="http://schemas.microsoft.com/office/drawing/2014/main" id="{428C2266-CC93-7863-12DC-84C345FEC677}"/>
              </a:ext>
            </a:extLst>
          </p:cNvPr>
          <p:cNvSpPr/>
          <p:nvPr/>
        </p:nvSpPr>
        <p:spPr>
          <a:xfrm rot="2312101">
            <a:off x="6483038" y="4666961"/>
            <a:ext cx="351676" cy="978408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5199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29AE0-E62B-7C6D-3F03-26F919FA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FB0BFA7-6614-7FF6-55D4-9E92A72CF9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CD334CAB-01D7-CFA7-5AAF-35292EF8A026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FAEB030-EFDB-5E1F-25C7-6A878AB5C89C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4E605AF-4DE0-5FF3-2FB7-41CD51620B02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71240D0-8F30-0ADC-F265-FE5BD8AD8FFD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0C944-BC5F-AC03-9E58-65AF0067CB1C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7ADA21B-8128-35F9-F59A-0E40C8116204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B36D9C0-B46D-94AC-160A-27DA57DDC04D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E1CA464-BF42-7A74-A0EA-0A3DA19A0F06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930AFA4-DAD7-9940-B34D-A5308FFF8659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555EF22-D080-1B48-4283-CBE6CA58EE58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37A0C13-ECC6-4253-31FB-647867366779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2B5CAA1-08E6-E214-3069-50D782B45518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243574E6-B768-0BE2-2539-3CB4EE875BFE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243574E6-B768-0BE2-2539-3CB4EE875B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CADF370A-16C6-98C1-EFE0-BB7C231E687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CADF370A-16C6-98C1-EFE0-BB7C231E687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4925FAE0-D996-3F34-1D83-E87EA52766AE}"/>
              </a:ext>
            </a:extLst>
          </p:cNvPr>
          <p:cNvSpPr/>
          <p:nvPr/>
        </p:nvSpPr>
        <p:spPr>
          <a:xfrm>
            <a:off x="4135727" y="2788814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D3F90B20-C87F-FA34-8835-FEFD16C1DF5A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D3F90B20-C87F-FA34-8835-FEFD16C1DF5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9DDAFCD-176D-03C4-B6BE-734172C9CFF8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69DDAFCD-176D-03C4-B6BE-734172C9CF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62EAB73-4B58-2469-F525-F0C9117F6EC0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1370ADCC-8726-63B7-90F2-D0CB31E65E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420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BE02B4-71A7-6A84-1BA5-73CEC3EA2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5693AE29-0F7F-3846-B404-FA62AFEACB16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BDE6AA5-A8B4-F25A-7F84-F005A8E96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018EE8D-BB50-4070-1464-736EABF97E6F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1E187FC-AE30-A843-F108-2AE346B1817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EA990B0-F0C0-3AC1-9253-4AFEE747C86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94D77F66-D72C-AE6C-2B2B-DF08179A4C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0567656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56A9D9C7-7875-F970-A61C-6671C3A7E9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7973397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7E9DCCF3-7923-1996-3A64-C1D8FFE6B39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26084612"/>
              </p:ext>
            </p:extLst>
          </p:nvPr>
        </p:nvGraphicFramePr>
        <p:xfrm>
          <a:off x="862323" y="2836187"/>
          <a:ext cx="45847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C4119F30-3CF2-114A-37BB-84F5CF4A23C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2562301"/>
              </p:ext>
            </p:extLst>
          </p:nvPr>
        </p:nvGraphicFramePr>
        <p:xfrm>
          <a:off x="6748480" y="2836187"/>
          <a:ext cx="4634385" cy="27806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3052034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F626BE-BDBC-3E91-D805-3C8CF78E0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F098E018-392B-C966-96DD-5B5DC2876AFE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1AC3703B-8212-435B-9BE6-075CFB636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EADB0AB-E460-E03D-0957-75214EDCABBB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789413D-0B0B-25AB-F10C-465DB07B3C7B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92F325B-B00C-3E02-1A0A-FB91E9E512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5BB4A46B-70F2-0177-A441-4DEDB95B08BC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1BA83B0E-BBAF-619D-2181-41A86FB15070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C89E326-07F3-C0B9-ECA0-F7DDE2DE4BA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5550692"/>
              </p:ext>
            </p:extLst>
          </p:nvPr>
        </p:nvGraphicFramePr>
        <p:xfrm>
          <a:off x="6748480" y="2847813"/>
          <a:ext cx="4584227" cy="2729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E5F24B1E-0179-1037-BF13-56F70AF23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6939742"/>
              </p:ext>
            </p:extLst>
          </p:nvPr>
        </p:nvGraphicFramePr>
        <p:xfrm>
          <a:off x="865826" y="2836187"/>
          <a:ext cx="4584226" cy="27297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7" name="Grafik 16">
            <a:extLst>
              <a:ext uri="{FF2B5EF4-FFF2-40B4-BE49-F238E27FC236}">
                <a16:creationId xmlns:a16="http://schemas.microsoft.com/office/drawing/2014/main" id="{DA01AC06-9B3B-EB5C-9C8F-C454F02291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6542" y="153764"/>
            <a:ext cx="2663606" cy="266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936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0DBA9-58FD-5986-8B5E-304EF9B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5ABA2ED3-B08F-6BAF-7900-2C570433F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3123FCD-A99A-C3B6-5407-BD2E23315CD5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7055488-6252-D772-54B8-017046D1BAD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2: Shopping Flow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9C56DAF-8513-A2C3-0346-283CAC5CFC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E7948828-6628-C4FD-8A66-0A5C65D5DB7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320202"/>
              </p:ext>
            </p:extLst>
          </p:nvPr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AE2CBA39-12A4-A779-1524-DD89F223C5A2}"/>
              </a:ext>
            </a:extLst>
          </p:cNvPr>
          <p:cNvSpPr txBox="1"/>
          <p:nvPr/>
        </p:nvSpPr>
        <p:spPr>
          <a:xfrm>
            <a:off x="993668" y="2782883"/>
            <a:ext cx="1033648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55s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240s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dedicated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remove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button</a:t>
            </a:r>
            <a:r>
              <a:rPr lang="de-DE" dirty="0">
                <a:solidFill>
                  <a:schemeClr val="bg1"/>
                </a:solidFill>
              </a:rPr>
              <a:t> (e.g., an “X”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) </a:t>
            </a:r>
            <a:r>
              <a:rPr lang="de-DE" dirty="0" err="1">
                <a:solidFill>
                  <a:schemeClr val="bg1"/>
                </a:solidFill>
              </a:rPr>
              <a:t>would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make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deleting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items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much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easier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website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provide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clearer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indication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need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scroll down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Blueprints</a:t>
            </a:r>
            <a:r>
              <a:rPr lang="de-DE" dirty="0">
                <a:solidFill>
                  <a:schemeClr val="bg1"/>
                </a:solidFill>
              </a:rPr>
              <a:t> and Ready-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-Buy </a:t>
            </a:r>
            <a:r>
              <a:rPr lang="de-DE" dirty="0" err="1">
                <a:solidFill>
                  <a:schemeClr val="bg1"/>
                </a:solidFill>
              </a:rPr>
              <a:t>sections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The </a:t>
            </a:r>
            <a:r>
              <a:rPr lang="de-DE" dirty="0" err="1">
                <a:solidFill>
                  <a:schemeClr val="bg1"/>
                </a:solidFill>
              </a:rPr>
              <a:t>shopping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cart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is</a:t>
            </a:r>
            <a:r>
              <a:rPr lang="de-DE" dirty="0">
                <a:solidFill>
                  <a:schemeClr val="bg1"/>
                </a:solidFill>
              </a:rPr>
              <a:t> not </a:t>
            </a:r>
            <a:r>
              <a:rPr lang="de-DE" dirty="0" err="1">
                <a:solidFill>
                  <a:schemeClr val="bg1"/>
                </a:solidFill>
              </a:rPr>
              <a:t>immediately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recognizable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as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shopping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cart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8A3D6EF0-84F2-E1BC-2BAB-44631515B1C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5380249"/>
              </p:ext>
            </p:extLst>
          </p:nvPr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2A22E08F-4E7D-0619-6FC2-7F64FB2813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4313775"/>
              </p:ext>
            </p:extLst>
          </p:nvPr>
        </p:nvGraphicFramePr>
        <p:xfrm>
          <a:off x="5863590" y="2108541"/>
          <a:ext cx="2731401" cy="19929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38515C1-3410-F31A-BAA7-CBF54BA0472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7136"/>
              </p:ext>
            </p:extLst>
          </p:nvPr>
        </p:nvGraphicFramePr>
        <p:xfrm>
          <a:off x="9051682" y="2108541"/>
          <a:ext cx="2735162" cy="19888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F25CE3A7-BCC9-5551-9433-3BB5ECFF3F8D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457F3D1-CC2D-DCCA-4C41-E42705432B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4304" y="3591178"/>
            <a:ext cx="372583" cy="372583"/>
          </a:xfrm>
          <a:prstGeom prst="rect">
            <a:avLst/>
          </a:prstGeom>
        </p:spPr>
      </p:pic>
      <p:pic>
        <p:nvPicPr>
          <p:cNvPr id="13" name="Grafik 12" descr="FREE Yellow Question Symbol Mark Icon PNG | Citypng">
            <a:extLst>
              <a:ext uri="{FF2B5EF4-FFF2-40B4-BE49-F238E27FC236}">
                <a16:creationId xmlns:a16="http://schemas.microsoft.com/office/drawing/2014/main" id="{7C9EC507-12DC-5B58-CFC3-64BCFE50C8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32190" y="3400750"/>
            <a:ext cx="241593" cy="24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396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382EFF-5373-9EEB-3E26-98E40FD2A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AF89191E-49FD-717A-D1CA-9BA3A7863923}"/>
              </a:ext>
            </a:extLst>
          </p:cNvPr>
          <p:cNvSpPr/>
          <p:nvPr/>
        </p:nvSpPr>
        <p:spPr>
          <a:xfrm flipH="1">
            <a:off x="1220038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77472BC7-7BCD-B43E-39F8-29772048C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5FA6B5B-C941-766F-54F6-3DC419C7F0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3FC4CBF-EC6A-ADC8-95B1-FE53C6DF1B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78" y="2041965"/>
            <a:ext cx="9478644" cy="801012"/>
          </a:xfrm>
          <a:prstGeom prst="rect">
            <a:avLst/>
          </a:prstGeom>
        </p:spPr>
      </p:pic>
      <p:sp>
        <p:nvSpPr>
          <p:cNvPr id="9" name="Pfeil nach unten 8">
            <a:extLst>
              <a:ext uri="{FF2B5EF4-FFF2-40B4-BE49-F238E27FC236}">
                <a16:creationId xmlns:a16="http://schemas.microsoft.com/office/drawing/2014/main" id="{6309AF5B-3673-0A57-D979-45CA8B125449}"/>
              </a:ext>
            </a:extLst>
          </p:cNvPr>
          <p:cNvSpPr/>
          <p:nvPr/>
        </p:nvSpPr>
        <p:spPr>
          <a:xfrm rot="2312101">
            <a:off x="10319964" y="1420756"/>
            <a:ext cx="351676" cy="978408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9D890A8-1B5E-4128-6A3C-6644EEC39AD2}"/>
              </a:ext>
            </a:extLst>
          </p:cNvPr>
          <p:cNvSpPr txBox="1"/>
          <p:nvPr/>
        </p:nvSpPr>
        <p:spPr>
          <a:xfrm>
            <a:off x="5695890" y="3430248"/>
            <a:ext cx="8002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9727D5-1673-5ABA-3BB2-BD6C2A6AE2E0}"/>
              </a:ext>
            </a:extLst>
          </p:cNvPr>
          <p:cNvSpPr txBox="1"/>
          <p:nvPr/>
        </p:nvSpPr>
        <p:spPr>
          <a:xfrm>
            <a:off x="3371044" y="4602294"/>
            <a:ext cx="5614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</a:t>
            </a:r>
            <a:r>
              <a:rPr lang="de-DE" sz="28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Cart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28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  <a:sym typeface="Wingdings" pitchFamily="2" charset="2"/>
              </a:rPr>
              <a:t> Shopping Bag</a:t>
            </a:r>
            <a:endParaRPr lang="de-DE" sz="2800" b="1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27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339E0A-952B-2A6E-7451-AE3FF645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637D523D-33DA-2C3D-D0BD-4BC96DA9C0E1}"/>
              </a:ext>
            </a:extLst>
          </p:cNvPr>
          <p:cNvSpPr/>
          <p:nvPr/>
        </p:nvSpPr>
        <p:spPr>
          <a:xfrm flipH="1">
            <a:off x="1220038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F03EFEB0-9002-889B-B3FC-2F69449E6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2094CD2E-70D5-1DED-77D5-DAEB5173D6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725891E0-8931-1191-3B5C-9F18D795A3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4044" y="913199"/>
            <a:ext cx="8263912" cy="5336399"/>
          </a:xfrm>
          <a:prstGeom prst="rect">
            <a:avLst/>
          </a:prstGeom>
        </p:spPr>
      </p:pic>
      <p:sp>
        <p:nvSpPr>
          <p:cNvPr id="9" name="Pfeil nach unten 8">
            <a:extLst>
              <a:ext uri="{FF2B5EF4-FFF2-40B4-BE49-F238E27FC236}">
                <a16:creationId xmlns:a16="http://schemas.microsoft.com/office/drawing/2014/main" id="{47253480-5583-59D5-1ECC-9CD48D7ECE99}"/>
              </a:ext>
            </a:extLst>
          </p:cNvPr>
          <p:cNvSpPr/>
          <p:nvPr/>
        </p:nvSpPr>
        <p:spPr>
          <a:xfrm rot="2312101">
            <a:off x="10244809" y="2044976"/>
            <a:ext cx="351676" cy="978408"/>
          </a:xfrm>
          <a:prstGeom prst="downArrow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5338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2F3760-1EE8-1161-F7A6-B14BF59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C2C5803-C345-5687-3F68-6C36326DD2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BA0FDCBE-015E-CC99-6180-ABE139BE4FC7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D524418-8671-94CF-8D5D-4B2ACDA0A607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35BF77-A89D-898A-045C-D5FE0B9D1977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4551CF6-AF34-5708-79BD-5E29A435B1B5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B88AA26-D502-C7B8-53D3-2C412AE45CC2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C96702C-6AC7-B024-ADB7-BAC845369CAA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1B09558-8758-0DD2-90A0-CB484CCAAC2F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DADFDAC-78FD-425D-005C-C292E0E834BA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B983006-6A25-1135-408F-F80D6B9B58E4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00E0B1-7598-021E-3C73-E7C724388187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5B8592C-7EF6-ABD2-D049-E0B8959620C0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D202003-0D5B-73F6-E332-B0B40094C8DF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F4642C5C-5223-49E6-D830-967F64F0E544}"/>
                  </a:ext>
                </a:extLst>
              </p:cNvPr>
              <p:cNvGraphicFramePr/>
              <p:nvPr/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F4642C5C-5223-49E6-D830-967F64F0E5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D2654705-422F-951A-F970-DB4F5D10670D}"/>
              </a:ext>
            </a:extLst>
          </p:cNvPr>
          <p:cNvSpPr/>
          <p:nvPr/>
        </p:nvSpPr>
        <p:spPr>
          <a:xfrm>
            <a:off x="6338594" y="2830378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579EB769-66F5-DD82-457F-B4ABEBA96214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579EB769-66F5-DD82-457F-B4ABEBA9621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2A2CF3EB-3FDA-C609-50A5-61413ADEAB9C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2A2CF3EB-3FDA-C609-50A5-61413ADEAB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B230EE2C-C2C3-89FE-8DB1-DAF3F4C6EA73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273D6AF8-47E0-4313-045D-7656AFE31E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47843CC3-B993-7B97-8F71-C6D92F90AE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18029480"/>
                  </p:ext>
                </p:extLst>
              </p:nvPr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47843CC3-B993-7B97-8F71-C6D92F90AE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783341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330A9-E758-C16B-DAB4-4522DB19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F0BCC678-B87F-57D3-2BE4-4D4D47C4C7DC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82AA5310-8940-F7AD-2A40-4BAB33148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9E4BAD9-E200-6723-3AC5-64A967731199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A01907C-023E-EA2B-E733-AF135ED2E381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3: Profile Management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0A21E81-8040-8407-58E7-7DC81F4384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72AFE76C-7944-0ADB-66F3-68AEAC2A21F9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58C992AF-065F-0CD6-951D-C763C1FD529E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30DCB494-B88D-A429-D5A8-28E8F53C57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6398327"/>
              </p:ext>
            </p:extLst>
          </p:nvPr>
        </p:nvGraphicFramePr>
        <p:xfrm>
          <a:off x="866770" y="2836188"/>
          <a:ext cx="4576750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EDC48A36-E439-D01B-6E65-27A42ECF885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7551300"/>
              </p:ext>
            </p:extLst>
          </p:nvPr>
        </p:nvGraphicFramePr>
        <p:xfrm>
          <a:off x="6748480" y="2836188"/>
          <a:ext cx="4576750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4262936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ADB1B5-0CF1-8EF7-5FE3-ABD23A218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0AC7ACB6-2AF7-5F2F-AA0A-87A856A98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542673B1-88B1-1CBE-148D-D9F4DAEC58F3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314E38-DD99-38EE-912D-0508C7D99E49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Task 3: Profile Management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30D51AB-51A0-FA9B-EBB2-9478E9297BB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7C50EA8C-EE56-6FC1-F587-DAB267505787}"/>
              </a:ext>
            </a:extLst>
          </p:cNvPr>
          <p:cNvGraphicFramePr>
            <a:graphicFrameLocks/>
          </p:cNvGraphicFramePr>
          <p:nvPr/>
        </p:nvGraphicFramePr>
        <p:xfrm>
          <a:off x="5863590" y="2108541"/>
          <a:ext cx="2735162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5558EFDF-AEDB-321B-AD99-0C890A70CF7C}"/>
              </a:ext>
            </a:extLst>
          </p:cNvPr>
          <p:cNvSpPr txBox="1"/>
          <p:nvPr/>
        </p:nvSpPr>
        <p:spPr>
          <a:xfrm>
            <a:off x="993668" y="2782883"/>
            <a:ext cx="103364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How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long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did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take</a:t>
            </a:r>
            <a:r>
              <a:rPr lang="de-DE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?</a:t>
            </a: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Median:  20s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Minimum: 1,5s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Maximum: 120s</a:t>
            </a: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purchase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history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useful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recovery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option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visibility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toggle</a:t>
            </a:r>
            <a:r>
              <a:rPr lang="de-DE" dirty="0">
                <a:solidFill>
                  <a:schemeClr val="bg1"/>
                </a:solidFill>
              </a:rPr>
              <a:t> (</a:t>
            </a:r>
            <a:r>
              <a:rPr lang="de-DE" dirty="0" err="1">
                <a:solidFill>
                  <a:schemeClr val="bg1"/>
                </a:solidFill>
              </a:rPr>
              <a:t>eye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icon</a:t>
            </a:r>
            <a:r>
              <a:rPr lang="de-DE" dirty="0">
                <a:solidFill>
                  <a:schemeClr val="bg1"/>
                </a:solidFill>
              </a:rPr>
              <a:t>)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added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allowing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view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password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entered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It</a:t>
            </a:r>
            <a:r>
              <a:rPr lang="de-DE" dirty="0">
                <a:solidFill>
                  <a:schemeClr val="bg1"/>
                </a:solidFill>
              </a:rPr>
              <a:t> was not </a:t>
            </a:r>
            <a:r>
              <a:rPr lang="de-DE" dirty="0" err="1">
                <a:solidFill>
                  <a:schemeClr val="bg1"/>
                </a:solidFill>
              </a:rPr>
              <a:t>immediately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obvious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that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login</a:t>
            </a:r>
            <a:r>
              <a:rPr lang="de-DE" dirty="0">
                <a:solidFill>
                  <a:schemeClr val="bg1"/>
                </a:solidFill>
              </a:rPr>
              <a:t> feature </a:t>
            </a:r>
            <a:r>
              <a:rPr lang="de-DE" dirty="0" err="1">
                <a:solidFill>
                  <a:schemeClr val="bg1"/>
                </a:solidFill>
              </a:rPr>
              <a:t>existed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where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it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accessed</a:t>
            </a:r>
            <a:r>
              <a:rPr lang="de-DE" dirty="0">
                <a:solidFill>
                  <a:schemeClr val="bg1"/>
                </a:solidFill>
              </a:rPr>
              <a:t> </a:t>
            </a:r>
          </a:p>
          <a:p>
            <a:pPr lvl="1"/>
            <a:r>
              <a:rPr lang="de-DE" dirty="0">
                <a:solidFill>
                  <a:schemeClr val="bg1"/>
                </a:solidFill>
              </a:rPr>
              <a:t>      </a:t>
            </a: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21915D3E-34B7-3D05-1349-DE4C0826ED8D}"/>
              </a:ext>
            </a:extLst>
          </p:cNvPr>
          <p:cNvGraphicFramePr>
            <a:graphicFrameLocks/>
          </p:cNvGraphicFramePr>
          <p:nvPr/>
        </p:nvGraphicFramePr>
        <p:xfrm>
          <a:off x="9055444" y="2112644"/>
          <a:ext cx="2735161" cy="19888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7556EADE-BE07-FE8D-341A-BC971D919DDF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11" name="Diagramm 10">
            <a:extLst>
              <a:ext uri="{FF2B5EF4-FFF2-40B4-BE49-F238E27FC236}">
                <a16:creationId xmlns:a16="http://schemas.microsoft.com/office/drawing/2014/main" id="{1960ED2C-3F19-8723-1AE8-E301683541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6145490"/>
              </p:ext>
            </p:extLst>
          </p:nvPr>
        </p:nvGraphicFramePr>
        <p:xfrm>
          <a:off x="5859829" y="2108542"/>
          <a:ext cx="2752617" cy="1997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C6B89C20-579E-0629-7DEF-59E4C9F46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2155913"/>
              </p:ext>
            </p:extLst>
          </p:nvPr>
        </p:nvGraphicFramePr>
        <p:xfrm>
          <a:off x="9055443" y="2108539"/>
          <a:ext cx="2735161" cy="19888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5" name="Grafik 14" descr="FREE Yellow Question Symbol Mark Icon PNG | Citypng">
            <a:extLst>
              <a:ext uri="{FF2B5EF4-FFF2-40B4-BE49-F238E27FC236}">
                <a16:creationId xmlns:a16="http://schemas.microsoft.com/office/drawing/2014/main" id="{A72A66D1-65D0-9F3E-4DE6-B80C2A849D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0010" y="3400750"/>
            <a:ext cx="241593" cy="24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037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9626A-1921-A178-66E6-3A61A532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32D24518-AEFD-F2AC-4A95-7755A6DC9815}"/>
              </a:ext>
            </a:extLst>
          </p:cNvPr>
          <p:cNvSpPr/>
          <p:nvPr/>
        </p:nvSpPr>
        <p:spPr>
          <a:xfrm flipH="1">
            <a:off x="12200382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CDBBB238-7FE9-7C90-B8A5-6F3677755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94AD21A9-52D2-28FB-D5FB-763AC6EBA5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1D34EA0-4F7F-F66F-03F3-C605E82FC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650" y="1667495"/>
            <a:ext cx="6616700" cy="1358900"/>
          </a:xfrm>
          <a:prstGeom prst="rect">
            <a:avLst/>
          </a:prstGeom>
          <a:solidFill>
            <a:schemeClr val="accent1"/>
          </a:solidFill>
          <a:ln>
            <a:solidFill>
              <a:srgbClr val="FF0000"/>
            </a:solidFill>
          </a:ln>
        </p:spPr>
      </p:pic>
      <p:sp>
        <p:nvSpPr>
          <p:cNvPr id="9" name="Pfeil nach unten 8">
            <a:extLst>
              <a:ext uri="{FF2B5EF4-FFF2-40B4-BE49-F238E27FC236}">
                <a16:creationId xmlns:a16="http://schemas.microsoft.com/office/drawing/2014/main" id="{5C948B6D-9863-2516-9EA1-772008A02464}"/>
              </a:ext>
            </a:extLst>
          </p:cNvPr>
          <p:cNvSpPr/>
          <p:nvPr/>
        </p:nvSpPr>
        <p:spPr>
          <a:xfrm>
            <a:off x="5920162" y="3220328"/>
            <a:ext cx="351676" cy="978408"/>
          </a:xfrm>
          <a:prstGeom prst="downArrow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BB8D1BF-0A2B-5882-760E-F1ACFC72C1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7650" y="4368038"/>
            <a:ext cx="6616700" cy="135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852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4D4AA-8CD1-30DD-C0FE-EF2412F8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7A4FD73-3EB7-8B55-F6FF-C19E7CD665E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79B766ED-600B-FFE7-E6AC-12AEFD5E4C1A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0A8220C-9DF2-BF31-1D84-7D258E65398C}"/>
              </a:ext>
            </a:extLst>
          </p:cNvPr>
          <p:cNvSpPr/>
          <p:nvPr/>
        </p:nvSpPr>
        <p:spPr>
          <a:xfrm>
            <a:off x="2032635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50800" dir="174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A9F5929-5D91-BFA4-6243-ED8353B7328B}"/>
              </a:ext>
            </a:extLst>
          </p:cNvPr>
          <p:cNvSpPr/>
          <p:nvPr/>
        </p:nvSpPr>
        <p:spPr>
          <a:xfrm>
            <a:off x="42633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D0FFCE-C05F-BD2E-12A2-9802D58DFA15}"/>
              </a:ext>
            </a:extLst>
          </p:cNvPr>
          <p:cNvSpPr/>
          <p:nvPr/>
        </p:nvSpPr>
        <p:spPr>
          <a:xfrm>
            <a:off x="647319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17C4FDC-D6A2-3622-438F-9935A61D8861}"/>
              </a:ext>
            </a:extLst>
          </p:cNvPr>
          <p:cNvSpPr/>
          <p:nvPr/>
        </p:nvSpPr>
        <p:spPr>
          <a:xfrm>
            <a:off x="8705850" y="2914650"/>
            <a:ext cx="1078230" cy="10744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C2BE47F-77B6-1890-F20A-9D8BAC234148}"/>
              </a:ext>
            </a:extLst>
          </p:cNvPr>
          <p:cNvSpPr txBox="1"/>
          <p:nvPr/>
        </p:nvSpPr>
        <p:spPr>
          <a:xfrm>
            <a:off x="1496589" y="4103369"/>
            <a:ext cx="21126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1: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Navigation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299AE37-9DD1-F5CF-5009-B69AB42B8445}"/>
              </a:ext>
            </a:extLst>
          </p:cNvPr>
          <p:cNvSpPr txBox="1"/>
          <p:nvPr/>
        </p:nvSpPr>
        <p:spPr>
          <a:xfrm>
            <a:off x="3951054" y="4113087"/>
            <a:ext cx="1725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2: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Shopping Flow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325988A-FE3A-967E-EB15-D6931BF6398D}"/>
              </a:ext>
            </a:extLst>
          </p:cNvPr>
          <p:cNvSpPr txBox="1"/>
          <p:nvPr/>
        </p:nvSpPr>
        <p:spPr>
          <a:xfrm>
            <a:off x="6182937" y="4103370"/>
            <a:ext cx="17602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 3: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Profile Management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624F383-56C5-9B41-CD99-31D9FCF41314}"/>
              </a:ext>
            </a:extLst>
          </p:cNvPr>
          <p:cNvSpPr txBox="1"/>
          <p:nvPr/>
        </p:nvSpPr>
        <p:spPr>
          <a:xfrm>
            <a:off x="8460105" y="4103369"/>
            <a:ext cx="1592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Overall </a:t>
            </a:r>
          </a:p>
          <a:p>
            <a:pPr algn="ctr"/>
            <a:r>
              <a:rPr lang="de-DE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UI / UX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EC6C993D-EB22-4F30-841E-1B9116F72AA3}"/>
              </a:ext>
            </a:extLst>
          </p:cNvPr>
          <p:cNvSpPr/>
          <p:nvPr/>
        </p:nvSpPr>
        <p:spPr>
          <a:xfrm>
            <a:off x="3086100" y="3388995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BBA91E4-5E7F-B814-C82C-029F5433D724}"/>
              </a:ext>
            </a:extLst>
          </p:cNvPr>
          <p:cNvSpPr/>
          <p:nvPr/>
        </p:nvSpPr>
        <p:spPr>
          <a:xfrm>
            <a:off x="530733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5925285-1766-3D95-2B39-453AC72630AB}"/>
              </a:ext>
            </a:extLst>
          </p:cNvPr>
          <p:cNvSpPr/>
          <p:nvPr/>
        </p:nvSpPr>
        <p:spPr>
          <a:xfrm>
            <a:off x="7528560" y="3380422"/>
            <a:ext cx="1188720" cy="1428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0CBE303F-4207-FE00-AB83-DFCBC13428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395128" y="2882699"/>
              <a:ext cx="1212614" cy="1212615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212614" cy="1212615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 ax="-449957" ay="4942122" az="-446017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207154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9" name="3D-Modell 18" descr="Hellgraue Kugel">
                <a:extLst>
                  <a:ext uri="{FF2B5EF4-FFF2-40B4-BE49-F238E27FC236}">
                    <a16:creationId xmlns:a16="http://schemas.microsoft.com/office/drawing/2014/main" id="{0CBE303F-4207-FE00-AB83-DFCBC13428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5128" y="2882699"/>
                <a:ext cx="1212614" cy="1212615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B74687DE-246E-5673-402B-BFA2A97BD37A}"/>
              </a:ext>
            </a:extLst>
          </p:cNvPr>
          <p:cNvSpPr/>
          <p:nvPr/>
        </p:nvSpPr>
        <p:spPr>
          <a:xfrm>
            <a:off x="8572632" y="2778423"/>
            <a:ext cx="1307592" cy="129610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27A3F369-5CD8-E976-23EA-C89C4DD59291}"/>
                  </a:ext>
                </a:extLst>
              </p:cNvPr>
              <p:cNvGraphicFramePr/>
              <p:nvPr/>
            </p:nvGraphicFramePr>
            <p:xfrm>
              <a:off x="4202431" y="2798239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2" name="3D-Modell 21" descr="Hellgraue Kugel">
                <a:extLst>
                  <a:ext uri="{FF2B5EF4-FFF2-40B4-BE49-F238E27FC236}">
                    <a16:creationId xmlns:a16="http://schemas.microsoft.com/office/drawing/2014/main" id="{27A3F369-5CD8-E976-23EA-C89C4DD592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02431" y="2798239"/>
                <a:ext cx="1173479" cy="1290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FD3929C0-30A7-ACD9-4991-E9EDBD1BD539}"/>
                  </a:ext>
                </a:extLst>
              </p:cNvPr>
              <p:cNvGraphicFramePr/>
              <p:nvPr/>
            </p:nvGraphicFramePr>
            <p:xfrm>
              <a:off x="1958341" y="2813273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-Modell 22" descr="Hellgraue Kugel">
                <a:extLst>
                  <a:ext uri="{FF2B5EF4-FFF2-40B4-BE49-F238E27FC236}">
                    <a16:creationId xmlns:a16="http://schemas.microsoft.com/office/drawing/2014/main" id="{FD3929C0-30A7-ACD9-4991-E9EDBD1BD53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58341" y="2813273"/>
                <a:ext cx="1173479" cy="1290096"/>
              </a:xfrm>
              <a:prstGeom prst="rect">
                <a:avLst/>
              </a:prstGeom>
            </p:spPr>
          </p:pic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57907096-04A1-095C-B172-EDE47D4B5DE6}"/>
              </a:ext>
            </a:extLst>
          </p:cNvPr>
          <p:cNvSpPr txBox="1"/>
          <p:nvPr/>
        </p:nvSpPr>
        <p:spPr>
          <a:xfrm>
            <a:off x="2886635" y="1276344"/>
            <a:ext cx="6362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Presentation</a:t>
            </a:r>
            <a:r>
              <a:rPr lang="de-DE" sz="4800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4800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Overview</a:t>
            </a:r>
            <a:endParaRPr lang="de-DE" sz="4800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A843E1B1-A36E-0AFA-B2B5-166E17789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3FA70AAB-59EB-C10F-EB3E-7117AAF7F55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49909912"/>
                  </p:ext>
                </p:extLst>
              </p:nvPr>
            </p:nvGraphicFramePr>
            <p:xfrm>
              <a:off x="8643545" y="2783952"/>
              <a:ext cx="1173479" cy="1290096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1173479" cy="1290096"/>
                    </a:xfrm>
                    <a:prstGeom prst="rect">
                      <a:avLst/>
                    </a:prstGeom>
                  </am3d:spPr>
                  <am3d:camera>
                    <am3d:pos x="0" y="0" z="814691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43146" d="1000000"/>
                    <am3d:preTrans dx="-2" dy="-18000000" dz="3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207155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8" name="3D-Modell 17" descr="Hellgraue Kugel">
                <a:extLst>
                  <a:ext uri="{FF2B5EF4-FFF2-40B4-BE49-F238E27FC236}">
                    <a16:creationId xmlns:a16="http://schemas.microsoft.com/office/drawing/2014/main" id="{3FA70AAB-59EB-C10F-EB3E-7117AAF7F5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643545" y="2783952"/>
                <a:ext cx="1173479" cy="129009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39593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9AC65-2E57-D97B-9550-4B5E8B919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1E576603-62BE-134D-A83A-29545B6F29AF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E6A3FC68-CE01-6939-2F65-3E20E4E48E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7283632-947F-48D4-8F44-6D28F5A07334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4339620-CA5C-6792-9FB1-15BF53B4F2FE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927D1D5-A02F-4533-6583-8D4B484D76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4EDD0EF4-570C-0BE3-E984-B205F0557E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52564635"/>
              </p:ext>
            </p:extLst>
          </p:nvPr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021A7482-02CA-BAC2-B256-17C1ABA0CE00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CC534E49-51FA-5E85-4E34-5E8F47E266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4024964"/>
              </p:ext>
            </p:extLst>
          </p:nvPr>
        </p:nvGraphicFramePr>
        <p:xfrm>
          <a:off x="859294" y="2836187"/>
          <a:ext cx="4604997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E91458F6-24B9-C75D-B6CA-C94D93DF2F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2307261"/>
              </p:ext>
            </p:extLst>
          </p:nvPr>
        </p:nvGraphicFramePr>
        <p:xfrm>
          <a:off x="6723853" y="2836187"/>
          <a:ext cx="4608853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1733127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C828CC-2B3A-9811-A04E-4E30C7A24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7AAC1AF1-5961-B0E7-DAB3-DEC1EB5DB170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CAC34213-3102-B2F8-BB6E-8EEE14A01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C888B70-6F2F-F644-1BB3-22DDF2551CF5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2064321-1EB7-B97C-E2EB-FE975CFA2BAD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BD56345-75D8-3332-C5FE-989913AF26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884665B8-D668-6FE5-6C00-448D74DBF9C7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CB360CD5-A793-A0F4-F9A5-4CB7567C3E21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C775BCAC-8221-5371-4587-28A33911A9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86564360"/>
              </p:ext>
            </p:extLst>
          </p:nvPr>
        </p:nvGraphicFramePr>
        <p:xfrm>
          <a:off x="859294" y="2836187"/>
          <a:ext cx="4608853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0" name="Diagramm 9">
            <a:extLst>
              <a:ext uri="{FF2B5EF4-FFF2-40B4-BE49-F238E27FC236}">
                <a16:creationId xmlns:a16="http://schemas.microsoft.com/office/drawing/2014/main" id="{80803CE7-4584-2704-A3B4-7CFA4E5ACC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8531520"/>
              </p:ext>
            </p:extLst>
          </p:nvPr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1" name="Grafik 10">
            <a:extLst>
              <a:ext uri="{FF2B5EF4-FFF2-40B4-BE49-F238E27FC236}">
                <a16:creationId xmlns:a16="http://schemas.microsoft.com/office/drawing/2014/main" id="{72CE5B50-56D7-197D-D50E-69791CC1AE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76542" y="153764"/>
            <a:ext cx="2663606" cy="266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9738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0597D-6964-3BFA-47EA-053A27998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winkliges Dreieck 3">
            <a:extLst>
              <a:ext uri="{FF2B5EF4-FFF2-40B4-BE49-F238E27FC236}">
                <a16:creationId xmlns:a16="http://schemas.microsoft.com/office/drawing/2014/main" id="{BFF49FC2-D58C-79AB-F0CB-FBBB55C2EB85}"/>
              </a:ext>
            </a:extLst>
          </p:cNvPr>
          <p:cNvSpPr/>
          <p:nvPr/>
        </p:nvSpPr>
        <p:spPr>
          <a:xfrm flipH="1">
            <a:off x="5863590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1610A2A9-4721-9318-8B37-468C5885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6C62BC3-49CC-914C-A8B9-B63DC98A061D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5F25644-F856-F9F5-F07F-243EA04F692D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F930D0C-FC53-A17A-66DA-608F4D1682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graphicFrame>
        <p:nvGraphicFramePr>
          <p:cNvPr id="8" name="Chart 2">
            <a:extLst>
              <a:ext uri="{FF2B5EF4-FFF2-40B4-BE49-F238E27FC236}">
                <a16:creationId xmlns:a16="http://schemas.microsoft.com/office/drawing/2014/main" id="{14F456EF-85DB-0DEA-C81E-1F30EEB00E30}"/>
              </a:ext>
            </a:extLst>
          </p:cNvPr>
          <p:cNvGraphicFramePr>
            <a:graphicFrameLocks/>
          </p:cNvGraphicFramePr>
          <p:nvPr/>
        </p:nvGraphicFramePr>
        <p:xfrm>
          <a:off x="859294" y="2836187"/>
          <a:ext cx="4590758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Diagramm 11">
            <a:extLst>
              <a:ext uri="{FF2B5EF4-FFF2-40B4-BE49-F238E27FC236}">
                <a16:creationId xmlns:a16="http://schemas.microsoft.com/office/drawing/2014/main" id="{0C0EAAC3-1F51-336F-106E-61B9860B84B2}"/>
              </a:ext>
            </a:extLst>
          </p:cNvPr>
          <p:cNvGraphicFramePr>
            <a:graphicFrameLocks/>
          </p:cNvGraphicFramePr>
          <p:nvPr/>
        </p:nvGraphicFramePr>
        <p:xfrm>
          <a:off x="6748480" y="2836187"/>
          <a:ext cx="4584226" cy="27413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507948FC-659D-6079-E883-B7493D3CA3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68676020"/>
              </p:ext>
            </p:extLst>
          </p:nvPr>
        </p:nvGraphicFramePr>
        <p:xfrm>
          <a:off x="867665" y="2836187"/>
          <a:ext cx="4575855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E1840C83-1EBF-E61D-CE11-A50FD74B88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4381758"/>
              </p:ext>
            </p:extLst>
          </p:nvPr>
        </p:nvGraphicFramePr>
        <p:xfrm>
          <a:off x="6748480" y="2836187"/>
          <a:ext cx="4584226" cy="2741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pic>
        <p:nvPicPr>
          <p:cNvPr id="13" name="Grafik 12">
            <a:extLst>
              <a:ext uri="{FF2B5EF4-FFF2-40B4-BE49-F238E27FC236}">
                <a16:creationId xmlns:a16="http://schemas.microsoft.com/office/drawing/2014/main" id="{77B93DE6-E253-E630-8C95-77E5E159D6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7409" y="903109"/>
            <a:ext cx="1541871" cy="1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166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29000">
              <a:schemeClr val="tx1"/>
            </a:gs>
            <a:gs pos="83000">
              <a:schemeClr val="tx1"/>
            </a:gs>
            <a:gs pos="100000">
              <a:schemeClr val="tx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AD120A-42FC-30D5-CC03-47BF4058E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fik 20">
            <a:extLst>
              <a:ext uri="{FF2B5EF4-FFF2-40B4-BE49-F238E27FC236}">
                <a16:creationId xmlns:a16="http://schemas.microsoft.com/office/drawing/2014/main" id="{F1C1DC18-EF33-1A9D-BAE1-AA2DC8380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2002" y="-381136"/>
            <a:ext cx="3238637" cy="215909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AEA53ED6-834F-CFFA-6F93-60A19812323D}"/>
              </a:ext>
            </a:extLst>
          </p:cNvPr>
          <p:cNvSpPr txBox="1"/>
          <p:nvPr/>
        </p:nvSpPr>
        <p:spPr>
          <a:xfrm>
            <a:off x="708660" y="1485567"/>
            <a:ext cx="50754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Results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of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de-DE" sz="3200" b="1" dirty="0" err="1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our</a:t>
            </a:r>
            <a:r>
              <a:rPr lang="de-DE" sz="32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Evaluation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DEDD69-EFDB-AABC-A288-94CB621EE45A}"/>
              </a:ext>
            </a:extLst>
          </p:cNvPr>
          <p:cNvSpPr txBox="1"/>
          <p:nvPr/>
        </p:nvSpPr>
        <p:spPr>
          <a:xfrm>
            <a:off x="708660" y="2240280"/>
            <a:ext cx="5469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sz="2400" b="1" dirty="0">
                <a:solidFill>
                  <a:schemeClr val="bg1"/>
                </a:solidFill>
              </a:rPr>
              <a:t>Overall UI / UX </a:t>
            </a:r>
            <a:endParaRPr lang="de-DE" sz="2400" dirty="0">
              <a:solidFill>
                <a:schemeClr val="bg1"/>
              </a:solidFill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524F8F9-A5D3-A744-E456-8A0A4BC7456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0314874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49CD6AA-328F-9D73-EB40-22178FB1A25A}"/>
              </a:ext>
            </a:extLst>
          </p:cNvPr>
          <p:cNvSpPr txBox="1"/>
          <p:nvPr/>
        </p:nvSpPr>
        <p:spPr>
          <a:xfrm>
            <a:off x="993668" y="2782883"/>
            <a:ext cx="1033648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chemeClr val="bg1"/>
                </a:solidFill>
              </a:rPr>
              <a:t>Suggestions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for</a:t>
            </a:r>
            <a:r>
              <a:rPr lang="de-DE" b="1" dirty="0">
                <a:solidFill>
                  <a:schemeClr val="bg1"/>
                </a:solidFill>
              </a:rPr>
              <a:t> </a:t>
            </a:r>
            <a:r>
              <a:rPr lang="de-DE" b="1" dirty="0" err="1">
                <a:solidFill>
                  <a:schemeClr val="bg1"/>
                </a:solidFill>
              </a:rPr>
              <a:t>improvement</a:t>
            </a:r>
            <a:r>
              <a:rPr lang="de-DE" b="1" dirty="0">
                <a:solidFill>
                  <a:schemeClr val="bg1"/>
                </a:solidFill>
              </a:rPr>
              <a:t>?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larger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permanently</a:t>
            </a:r>
            <a:r>
              <a:rPr lang="de-DE" dirty="0">
                <a:solidFill>
                  <a:schemeClr val="bg1"/>
                </a:solidFill>
              </a:rPr>
              <a:t> visible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menu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 err="1">
                <a:solidFill>
                  <a:schemeClr val="bg1"/>
                </a:solidFill>
              </a:rPr>
              <a:t>When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selecting</a:t>
            </a:r>
            <a:r>
              <a:rPr lang="de-DE" dirty="0">
                <a:solidFill>
                  <a:schemeClr val="bg1"/>
                </a:solidFill>
              </a:rPr>
              <a:t> a </a:t>
            </a:r>
            <a:r>
              <a:rPr lang="de-DE" dirty="0" err="1">
                <a:solidFill>
                  <a:schemeClr val="bg1"/>
                </a:solidFill>
              </a:rPr>
              <a:t>navigation</a:t>
            </a:r>
            <a:r>
              <a:rPr lang="de-DE" dirty="0">
                <a:solidFill>
                  <a:schemeClr val="bg1"/>
                </a:solidFill>
              </a:rPr>
              <a:t> item </a:t>
            </a:r>
            <a:r>
              <a:rPr lang="de-DE" dirty="0" err="1">
                <a:solidFill>
                  <a:schemeClr val="bg1"/>
                </a:solidFill>
              </a:rPr>
              <a:t>of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same </a:t>
            </a:r>
            <a:r>
              <a:rPr lang="de-DE" dirty="0" err="1">
                <a:solidFill>
                  <a:schemeClr val="bg1"/>
                </a:solidFill>
              </a:rPr>
              <a:t>page</a:t>
            </a:r>
            <a:r>
              <a:rPr lang="de-DE" dirty="0">
                <a:solidFill>
                  <a:schemeClr val="bg1"/>
                </a:solidFill>
              </a:rPr>
              <a:t>, </a:t>
            </a:r>
            <a:r>
              <a:rPr lang="de-DE" dirty="0" err="1">
                <a:solidFill>
                  <a:schemeClr val="bg1"/>
                </a:solidFill>
              </a:rPr>
              <a:t>users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automatically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be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taken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top </a:t>
            </a:r>
            <a:r>
              <a:rPr lang="de-DE" dirty="0" err="1">
                <a:solidFill>
                  <a:schemeClr val="bg1"/>
                </a:solidFill>
              </a:rPr>
              <a:t>of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corresponding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page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Support </a:t>
            </a:r>
            <a:r>
              <a:rPr lang="de-DE" dirty="0" err="1">
                <a:solidFill>
                  <a:schemeClr val="bg1"/>
                </a:solidFill>
              </a:rPr>
              <a:t>for</a:t>
            </a:r>
            <a:r>
              <a:rPr lang="de-DE" dirty="0">
                <a:solidFill>
                  <a:schemeClr val="bg1"/>
                </a:solidFill>
              </a:rPr>
              <a:t> Dark Mode in </a:t>
            </a:r>
            <a:r>
              <a:rPr lang="de-DE" dirty="0" err="1">
                <a:solidFill>
                  <a:schemeClr val="bg1"/>
                </a:solidFill>
              </a:rPr>
              <a:t>the</a:t>
            </a:r>
            <a:r>
              <a:rPr lang="de-DE" dirty="0">
                <a:solidFill>
                  <a:schemeClr val="bg1"/>
                </a:solidFill>
              </a:rPr>
              <a:t> Profile </a:t>
            </a:r>
            <a:r>
              <a:rPr lang="de-DE" dirty="0" err="1">
                <a:solidFill>
                  <a:schemeClr val="bg1"/>
                </a:solidFill>
              </a:rPr>
              <a:t>section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A </a:t>
            </a:r>
            <a:r>
              <a:rPr lang="de-DE" dirty="0" err="1">
                <a:solidFill>
                  <a:schemeClr val="bg1"/>
                </a:solidFill>
              </a:rPr>
              <a:t>lighter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color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theme</a:t>
            </a:r>
            <a:r>
              <a:rPr lang="de-DE" dirty="0">
                <a:solidFill>
                  <a:schemeClr val="bg1"/>
                </a:solidFill>
              </a:rPr>
              <a:t> (Light Mode) </a:t>
            </a:r>
            <a:r>
              <a:rPr lang="de-DE" dirty="0" err="1">
                <a:solidFill>
                  <a:schemeClr val="bg1"/>
                </a:solidFill>
              </a:rPr>
              <a:t>as</a:t>
            </a:r>
            <a:r>
              <a:rPr lang="de-DE" dirty="0">
                <a:solidFill>
                  <a:schemeClr val="bg1"/>
                </a:solidFill>
              </a:rPr>
              <a:t> an alternative </a:t>
            </a:r>
            <a:r>
              <a:rPr lang="de-DE" dirty="0" err="1">
                <a:solidFill>
                  <a:schemeClr val="bg1"/>
                </a:solidFill>
              </a:rPr>
              <a:t>option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de-DE" dirty="0">
                <a:solidFill>
                  <a:schemeClr val="bg1"/>
                </a:solidFill>
              </a:rPr>
              <a:t>Glass-style UI </a:t>
            </a:r>
            <a:r>
              <a:rPr lang="de-DE" dirty="0" err="1">
                <a:solidFill>
                  <a:schemeClr val="bg1"/>
                </a:solidFill>
              </a:rPr>
              <a:t>elements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should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include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stronger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shadows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or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darker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visual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effects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to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improve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visibility</a:t>
            </a:r>
            <a:r>
              <a:rPr lang="de-DE" dirty="0">
                <a:solidFill>
                  <a:schemeClr val="bg1"/>
                </a:solidFill>
              </a:rPr>
              <a:t>.</a:t>
            </a: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lvl="1"/>
            <a:endParaRPr lang="de-DE" dirty="0">
              <a:solidFill>
                <a:schemeClr val="bg1"/>
              </a:solidFill>
            </a:endParaRPr>
          </a:p>
          <a:p>
            <a:pPr marL="742950" lvl="1" indent="-285750">
              <a:buFontTx/>
              <a:buChar char="-"/>
            </a:pPr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endParaRPr lang="de-DE" dirty="0">
              <a:solidFill>
                <a:schemeClr val="bg1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Rechtwinkliges Dreieck 9">
            <a:extLst>
              <a:ext uri="{FF2B5EF4-FFF2-40B4-BE49-F238E27FC236}">
                <a16:creationId xmlns:a16="http://schemas.microsoft.com/office/drawing/2014/main" id="{A575F670-3308-9688-E693-2D2EFAA7FAF4}"/>
              </a:ext>
            </a:extLst>
          </p:cNvPr>
          <p:cNvSpPr/>
          <p:nvPr/>
        </p:nvSpPr>
        <p:spPr>
          <a:xfrm flipH="1">
            <a:off x="12208623" y="-50256"/>
            <a:ext cx="6362700" cy="6931116"/>
          </a:xfrm>
          <a:prstGeom prst="rtTriangle">
            <a:avLst/>
          </a:prstGeom>
          <a:gradFill>
            <a:gsLst>
              <a:gs pos="0">
                <a:schemeClr val="accent4">
                  <a:lumMod val="5000"/>
                  <a:lumOff val="95000"/>
                </a:schemeClr>
              </a:gs>
              <a:gs pos="54000">
                <a:schemeClr val="bg1"/>
              </a:gs>
              <a:gs pos="0">
                <a:schemeClr val="bg2">
                  <a:lumMod val="7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9900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FA809B-A5C4-FA34-72FC-B3EC3FB08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5EBD44-3E48-8532-D2C2-133CBEC76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282" y="2571896"/>
            <a:ext cx="5768411" cy="1714208"/>
          </a:xfrm>
        </p:spPr>
        <p:txBody>
          <a:bodyPr>
            <a:normAutofit/>
          </a:bodyPr>
          <a:lstStyle/>
          <a:p>
            <a:r>
              <a:rPr lang="de-DE" sz="5400" b="1" dirty="0" err="1">
                <a:solidFill>
                  <a:schemeClr val="bg1"/>
                </a:solidFill>
              </a:rPr>
              <a:t>Thank</a:t>
            </a:r>
            <a:r>
              <a:rPr lang="de-DE" sz="5400" b="1" dirty="0">
                <a:solidFill>
                  <a:schemeClr val="bg1"/>
                </a:solidFill>
              </a:rPr>
              <a:t> </a:t>
            </a:r>
            <a:r>
              <a:rPr lang="de-DE" sz="5400" b="1" dirty="0" err="1">
                <a:solidFill>
                  <a:schemeClr val="bg1"/>
                </a:solidFill>
              </a:rPr>
              <a:t>You</a:t>
            </a:r>
            <a:r>
              <a:rPr lang="de-DE" sz="5400" b="1" dirty="0">
                <a:solidFill>
                  <a:schemeClr val="bg1"/>
                </a:solidFill>
              </a:rPr>
              <a:t> </a:t>
            </a:r>
            <a:r>
              <a:rPr lang="de-DE" sz="5400" b="1" dirty="0" err="1">
                <a:solidFill>
                  <a:schemeClr val="bg1"/>
                </a:solidFill>
              </a:rPr>
              <a:t>for</a:t>
            </a:r>
            <a:r>
              <a:rPr lang="de-DE" sz="5400" b="1" dirty="0">
                <a:solidFill>
                  <a:schemeClr val="bg1"/>
                </a:solidFill>
              </a:rPr>
              <a:t> </a:t>
            </a:r>
            <a:r>
              <a:rPr lang="de-DE" sz="5400" b="1" dirty="0" err="1">
                <a:solidFill>
                  <a:schemeClr val="bg1"/>
                </a:solidFill>
              </a:rPr>
              <a:t>Your</a:t>
            </a:r>
            <a:r>
              <a:rPr lang="de-DE" sz="5400" b="1" dirty="0">
                <a:solidFill>
                  <a:schemeClr val="bg1"/>
                </a:solidFill>
              </a:rPr>
              <a:t> Valuable Feedback</a:t>
            </a:r>
            <a:endParaRPr lang="de-DE" sz="5400" dirty="0">
              <a:solidFill>
                <a:schemeClr val="bg1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239E9B4-D51B-D6AE-31DF-5621A8F88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41649" y="-400449"/>
            <a:ext cx="3921632" cy="261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346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1028</Words>
  <Application>Microsoft Macintosh PowerPoint</Application>
  <PresentationFormat>Breitbild</PresentationFormat>
  <Paragraphs>164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Helvetica Neue</vt:lpstr>
      <vt:lpstr>Office</vt:lpstr>
      <vt:lpstr>Printforge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Thank You for Your Valuable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Weigl</dc:creator>
  <cp:lastModifiedBy>Thomas Weigl</cp:lastModifiedBy>
  <cp:revision>17</cp:revision>
  <dcterms:created xsi:type="dcterms:W3CDTF">2026-04-30T10:41:42Z</dcterms:created>
  <dcterms:modified xsi:type="dcterms:W3CDTF">2026-06-21T16:58:25Z</dcterms:modified>
</cp:coreProperties>
</file>